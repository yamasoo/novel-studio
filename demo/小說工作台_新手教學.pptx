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始" id="{c9d2104b-beec-9fab-6cf2-e65c58f58808}">
          <p14:sldIdLst>
            <p14:sldId id="256"/>
            <p14:sldId id="257"/>
            <p14:sldId id="258"/>
          </p14:sldIdLst>
        </p14:section>
        <p14:section name="安裝與設定" id="{36b3237c-9619-56ae-265c-01059644cc04}">
          <p14:sldIdLst>
            <p14:sldId id="259"/>
            <p14:sldId id="260"/>
            <p14:sldId id="261"/>
            <p14:sldId id="262"/>
          </p14:sldIdLst>
        </p14:section>
        <p14:section name="認識介面" id="{e303907c-315f-187f-0be4-3c3b67f97050}">
          <p14:sldIdLst>
            <p14:sldId id="263"/>
            <p14:sldId id="264"/>
            <p14:sldId id="265"/>
          </p14:sldIdLst>
        </p14:section>
        <p14:section name="開一本書" id="{1bd585ef-922f-1224-3ecc-159e2f706f34}">
          <p14:sldIdLst>
            <p14:sldId id="266"/>
            <p14:sldId id="267"/>
            <p14:sldId id="268"/>
            <p14:sldId id="269"/>
            <p14:sldId id="270"/>
          </p14:sldIdLst>
        </p14:section>
        <p14:section name="管好長篇" id="{75b000c3-7e9c-0b9c-bc81-054a76d996f3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結尾" id="{a7638709-3b6a-46dd-0a73-28d6b88b46bc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這份簡報帶第一次使用小說工作台的人，從安裝、設定 AI，到寫出第一章、管理長篇的伏筆與時間線。畫面截圖都來自專案附的示範書《退婚之後》。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工作台是一個網頁介面，但所有東西都在你自己的電腦上。小說資料是普通的 Markdown 檔，用記事本也能打開。最重要的原則：AI 只提案，進正文的每一個字都由你決定。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整份教學分五段。第一次使用，至少把安裝設定和認識介面走完，然後用示範書試一次寫章節，熟悉候選稿的流程，再開自己的書。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書庫建議放在「文件」底下的「小說」資料夾，之後可以在設定改。工作台不會自動使用任何既有資料夾。更新工作台後，如果套件清單有變動，start.bat 會自動補裝。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三種執行者都能用全部的按鈕，差別在做法。Claude Code 會自己讀寫檔案；其他模型由工作台組好上下文送出，再由 Python 檢查結果後寫檔。新手建議先接 DeepSeek，便宜又夠用。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金鑰也可以改用環境變數。llama.cpp 的設定方法類似：先用 llama-server 啟動模型，網址維持 http://127.0.0.1:8080/v1，再按「校正」讓工作台算出每個中文字大約幾個 token。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右下角的按鈕可以打開或收起 AI 面板，面板可以切成窄、一半、寬三種寬度。左上角的搜尋框（Ctrl+K）可以在前文裡找詞。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示範書是一本古風短篇，已經寫好兩章、排好五章章綱，第三章停在候選稿。用它熟悉流程，不用擔心弄壞自己的書。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設定集越完整，AI 寫出來的東西越不會走樣。角色檔裡的說話方式、禁忌，作者偏好裡的禁用詞，都會在寫稿和審查時被讀到。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寫稿前，工作台會先把章綱和已定稿的事實對一次帳，有衝突照定稿寫並在匯報列出。寫完會自動核對章綱：每個情節點有沒有寫到，還會附上正文原句。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審查只列意見，不會動稿子。修訂結果也不會直接覆蓋，要你在「修訂對照」逐段選完按套用才寫入；原稿在修訂後被改過的話會擋下套用。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建議先手動寫幾章，熟悉每一步在做什麼，再用整章自動。勾選意見、套用修訂、搬到正文都是程式做，不用 AI。工作台重開後流程進度還在。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這些表格在每次採用章節時由 AI 回寫，回寫後工作台還會在本機檢查有沒有漏寫。寫新章節時，只會帶跟這一章有關的列，避免上下文塞爆。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搜尋範圍預設只有正文，可以勾選候選稿、大綱與章綱、設定集、追蹤。結果最上面會寫出現在幾章、第一次在第幾章，適合查某個道具第一次出現在哪。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匯入全部在本機處理，不呼叫 AI。匯入正文後，用設定集頁的「從正文建立設定」讓 AI 反推整套資料，不需要開書訪談。也可以先跑前幾章試試效果。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匯出 EPUB 時，封面的主圖會當封面，各章的主圖放在章首。插圖功能完全選用，沒有設定出圖後端也不影響寫作。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更多問題可以看 README 的「常見問題」，或從左側欄最底下的「回報問題」到 GitHub 開 issue。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工作台以 MIT 授權開源。遇到問題或有建議，從工作台左側欄最底下的「回報問題」直接到 GitHub 開 issue。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5852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8DCC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E9C9A0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2E3D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小說工作台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8DCCB"/>
                </a:solidFill>
              </a:rPr>
              <a:t>新手教學：第一次使用就上手</a:t>
            </a:r>
            <a:endParaRPr lang="en-US" sz="2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8AC9E"/>
                </a:solidFill>
              </a:rPr>
              <a:t>在自己電腦上跑的繁體中文長篇小說工作台</a:t>
            </a:r>
            <a:endParaRPr lang="en-US" sz="2000" dirty="0"/>
          </a:p>
        </p:txBody>
      </p:sp>
      <p:sp>
        <p:nvSpPr>
          <p:cNvPr id="4" name="seal"/>
          <p:cNvSpPr/>
          <p:nvPr/>
        </p:nvSpPr>
        <p:spPr>
          <a:xfrm>
            <a:off x="731520" y="10515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-1"/>
          <p:cNvSpPr txBox="1"/>
          <p:nvPr/>
        </p:nvSpPr>
        <p:spPr>
          <a:xfrm>
            <a:off x="731520" y="1051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書</a:t>
            </a:r>
            <a:endParaRPr lang="en-US" sz="3000" dirty="0"/>
          </a:p>
        </p:txBody>
      </p:sp>
      <p:sp>
        <p:nvSpPr>
          <p:cNvPr id="6" name="shot-frame-2"/>
          <p:cNvSpPr/>
          <p:nvPr/>
        </p:nvSpPr>
        <p:spPr>
          <a:xfrm>
            <a:off x="6766560" y="1234440"/>
            <a:ext cx="4937760" cy="3086100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shot-3" descr="工作台總覽畫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34440"/>
            <a:ext cx="4937760" cy="3086100"/>
          </a:xfrm>
          <a:prstGeom prst="rect">
            <a:avLst/>
          </a:prstGeom>
        </p:spPr>
      </p:pic>
      <p:sp>
        <p:nvSpPr>
          <p:cNvPr id="8" name="text-4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17A"/>
                </a:solidFill>
              </a:rPr>
              <a:t>Novel Studio v1.13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小說工作台是什麼</a:t>
            </a:r>
            <a:endParaRPr lang="en-US" sz="3000" dirty="0"/>
          </a:p>
        </p:txBody>
      </p:sp>
      <p:sp>
        <p:nvSpPr>
          <p:cNvPr id="3" name="icon-bg-5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320040" cy="320040"/>
          </a:xfrm>
          <a:prstGeom prst="rect">
            <a:avLst/>
          </a:prstGeom>
        </p:spPr>
      </p:pic>
      <p:sp>
        <p:nvSpPr>
          <p:cNvPr id="5" name="text-7"/>
          <p:cNvSpPr txBox="1"/>
          <p:nvPr/>
        </p:nvSpPr>
        <p:spPr>
          <a:xfrm>
            <a:off x="1417320" y="1307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在你的電腦上跑</a:t>
            </a:r>
            <a:endParaRPr lang="en-US" sz="1800" dirty="0"/>
          </a:p>
        </p:txBody>
      </p:sp>
      <p:sp>
        <p:nvSpPr>
          <p:cNvPr id="6" name="text-8"/>
          <p:cNvSpPr txBox="1"/>
          <p:nvPr/>
        </p:nvSpPr>
        <p:spPr>
          <a:xfrm>
            <a:off x="1417320" y="170992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瀏覽器打開 127.0.0.1:8765 就能用，只在本機，不對外開放。</a:t>
            </a:r>
            <a:endParaRPr lang="en-US" sz="1400" dirty="0"/>
          </a:p>
        </p:txBody>
      </p:sp>
      <p:sp>
        <p:nvSpPr>
          <p:cNvPr id="7" name="icon-bg-9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20340"/>
            <a:ext cx="320040" cy="320040"/>
          </a:xfrm>
          <a:prstGeom prst="rect">
            <a:avLst/>
          </a:prstGeom>
        </p:spPr>
      </p:pic>
      <p:sp>
        <p:nvSpPr>
          <p:cNvPr id="9" name="text-11"/>
          <p:cNvSpPr txBox="1"/>
          <p:nvPr/>
        </p:nvSpPr>
        <p:spPr>
          <a:xfrm>
            <a:off x="1417320" y="2542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資料就是一般的 Markdown 檔</a:t>
            </a:r>
            <a:endParaRPr lang="en-US" sz="1800" dirty="0"/>
          </a:p>
        </p:txBody>
      </p:sp>
      <p:sp>
        <p:nvSpPr>
          <p:cNvPr id="10" name="text-12"/>
          <p:cNvSpPr txBox="1"/>
          <p:nvPr/>
        </p:nvSpPr>
        <p:spPr>
          <a:xfrm>
            <a:off x="1417320" y="29443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設定、大綱、章綱、正文、追蹤都是文字檔，放在你自己的書庫資料夾；換工具也帶得走。</a:t>
            </a:r>
            <a:endParaRPr lang="en-US" sz="1400" dirty="0"/>
          </a:p>
        </p:txBody>
      </p:sp>
      <p:sp>
        <p:nvSpPr>
          <p:cNvPr id="11" name="icon-bg-13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954780"/>
            <a:ext cx="320040" cy="320040"/>
          </a:xfrm>
          <a:prstGeom prst="rect">
            <a:avLst/>
          </a:prstGeom>
        </p:spPr>
      </p:pic>
      <p:sp>
        <p:nvSpPr>
          <p:cNvPr id="13" name="text-15"/>
          <p:cNvSpPr txBox="1"/>
          <p:nvPr/>
        </p:nvSpPr>
        <p:spPr>
          <a:xfrm>
            <a:off x="1417320" y="3776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提案，你來決定</a:t>
            </a:r>
            <a:endParaRPr lang="en-US" sz="1800" dirty="0"/>
          </a:p>
        </p:txBody>
      </p:sp>
      <p:sp>
        <p:nvSpPr>
          <p:cNvPr id="14" name="text-16"/>
          <p:cNvSpPr txBox="1"/>
          <p:nvPr/>
        </p:nvSpPr>
        <p:spPr>
          <a:xfrm>
            <a:off x="1417320" y="41788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AI 寫的稿子先進「候選稿」，你按「採用」才進正文；改動前一定先備份。</a:t>
            </a:r>
            <a:endParaRPr lang="en-US" sz="1400" dirty="0"/>
          </a:p>
        </p:txBody>
      </p:sp>
      <p:sp>
        <p:nvSpPr>
          <p:cNvPr id="15" name="icon-bg-17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5189220"/>
            <a:ext cx="320040" cy="320040"/>
          </a:xfrm>
          <a:prstGeom prst="rect">
            <a:avLst/>
          </a:prstGeom>
        </p:spPr>
      </p:pic>
      <p:sp>
        <p:nvSpPr>
          <p:cNvPr id="17" name="text-19"/>
          <p:cNvSpPr txBox="1"/>
          <p:nvPr/>
        </p:nvSpPr>
        <p:spPr>
          <a:xfrm>
            <a:off x="1417320" y="5010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可以換不同的 AI</a:t>
            </a:r>
            <a:endParaRPr lang="en-US" sz="1800" dirty="0"/>
          </a:p>
        </p:txBody>
      </p:sp>
      <p:sp>
        <p:nvSpPr>
          <p:cNvPr id="18" name="text-20"/>
          <p:cNvSpPr txBox="1"/>
          <p:nvPr/>
        </p:nvSpPr>
        <p:spPr>
          <a:xfrm>
            <a:off x="1417320" y="54132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Claude Code、DeepSeek、本機的 llama.cpp 都能用，同一份資料誰都讀得懂。</a:t>
            </a:r>
            <a:endParaRPr lang="en-US" sz="1400" dirty="0"/>
          </a:p>
        </p:txBody>
      </p:sp>
      <p:sp>
        <p:nvSpPr>
          <p:cNvPr id="19" name="shot-frame-21"/>
          <p:cNvSpPr/>
          <p:nvPr/>
        </p:nvSpPr>
        <p:spPr>
          <a:xfrm>
            <a:off x="6583680" y="1417320"/>
            <a:ext cx="5029200" cy="3143250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shot-22" descr="章節頁畫面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417320"/>
            <a:ext cx="5029200" cy="3143250"/>
          </a:xfrm>
          <a:prstGeom prst="rect">
            <a:avLst/>
          </a:prstGeom>
        </p:spPr>
      </p:pic>
      <p:sp>
        <p:nvSpPr>
          <p:cNvPr id="21" name="text-23"/>
          <p:cNvSpPr txBox="1"/>
          <p:nvPr/>
        </p:nvSpPr>
        <p:spPr>
          <a:xfrm>
            <a:off x="658368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17A"/>
                </a:solidFill>
              </a:rPr>
              <a:t>章節頁：章綱、正文、候選稿、修訂對照都在同一頁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這份教學的路線</a:t>
            </a:r>
            <a:endParaRPr lang="en-US" sz="3000" dirty="0"/>
          </a:p>
        </p:txBody>
      </p:sp>
      <p:sp>
        <p:nvSpPr>
          <p:cNvPr id="3" name="card-24"/>
          <p:cNvSpPr/>
          <p:nvPr/>
        </p:nvSpPr>
        <p:spPr>
          <a:xfrm>
            <a:off x="548640" y="164592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icon-bg-25"/>
          <p:cNvSpPr/>
          <p:nvPr/>
        </p:nvSpPr>
        <p:spPr>
          <a:xfrm>
            <a:off x="12344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125980"/>
            <a:ext cx="320040" cy="320040"/>
          </a:xfrm>
          <a:prstGeom prst="rect">
            <a:avLst/>
          </a:prstGeom>
        </p:spPr>
      </p:pic>
      <p:sp>
        <p:nvSpPr>
          <p:cNvPr id="6" name="text-27"/>
          <p:cNvSpPr txBox="1"/>
          <p:nvPr/>
        </p:nvSpPr>
        <p:spPr>
          <a:xfrm>
            <a:off x="731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-28"/>
          <p:cNvSpPr txBox="1"/>
          <p:nvPr/>
        </p:nvSpPr>
        <p:spPr>
          <a:xfrm>
            <a:off x="6858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安裝與設定</a:t>
            </a:r>
            <a:endParaRPr lang="en-US" sz="1900" dirty="0"/>
          </a:p>
        </p:txBody>
      </p:sp>
      <p:sp>
        <p:nvSpPr>
          <p:cNvPr id="8" name="text-29"/>
          <p:cNvSpPr txBox="1"/>
          <p:nvPr/>
        </p:nvSpPr>
        <p:spPr>
          <a:xfrm>
            <a:off x="731520" y="3657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啟動工作台、選書庫、接上 AI</a:t>
            </a:r>
            <a:endParaRPr lang="en-US" sz="1400" dirty="0"/>
          </a:p>
        </p:txBody>
      </p:sp>
      <p:sp>
        <p:nvSpPr>
          <p:cNvPr id="9" name="arrow-30"/>
          <p:cNvSpPr/>
          <p:nvPr/>
        </p:nvSpPr>
        <p:spPr>
          <a:xfrm>
            <a:off x="2596896" y="3154680"/>
            <a:ext cx="182880" cy="292608"/>
          </a:xfrm>
          <a:prstGeom prst="chevron">
            <a:avLst/>
          </a:prstGeom>
          <a:solidFill>
            <a:srgbClr val="D9CFC3"/>
          </a:solidFill>
          <a:ln/>
        </p:spPr>
      </p:sp>
      <p:sp>
        <p:nvSpPr>
          <p:cNvPr id="10" name="card-31"/>
          <p:cNvSpPr/>
          <p:nvPr/>
        </p:nvSpPr>
        <p:spPr>
          <a:xfrm>
            <a:off x="2834640" y="164592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icon-bg-32"/>
          <p:cNvSpPr/>
          <p:nvPr/>
        </p:nvSpPr>
        <p:spPr>
          <a:xfrm>
            <a:off x="35204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125980"/>
            <a:ext cx="320040" cy="320040"/>
          </a:xfrm>
          <a:prstGeom prst="rect">
            <a:avLst/>
          </a:prstGeom>
        </p:spPr>
      </p:pic>
      <p:sp>
        <p:nvSpPr>
          <p:cNvPr id="13" name="text-34"/>
          <p:cNvSpPr txBox="1"/>
          <p:nvPr/>
        </p:nvSpPr>
        <p:spPr>
          <a:xfrm>
            <a:off x="3017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-35"/>
          <p:cNvSpPr txBox="1"/>
          <p:nvPr/>
        </p:nvSpPr>
        <p:spPr>
          <a:xfrm>
            <a:off x="29718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認識介面</a:t>
            </a:r>
            <a:endParaRPr lang="en-US" sz="1900" dirty="0"/>
          </a:p>
        </p:txBody>
      </p:sp>
      <p:sp>
        <p:nvSpPr>
          <p:cNvPr id="15" name="text-36"/>
          <p:cNvSpPr txBox="1"/>
          <p:nvPr/>
        </p:nvSpPr>
        <p:spPr>
          <a:xfrm>
            <a:off x="3017520" y="3657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左側選單、主畫面、AI 面板</a:t>
            </a:r>
            <a:endParaRPr lang="en-US" sz="1400" dirty="0"/>
          </a:p>
        </p:txBody>
      </p:sp>
      <p:sp>
        <p:nvSpPr>
          <p:cNvPr id="16" name="arrow-37"/>
          <p:cNvSpPr/>
          <p:nvPr/>
        </p:nvSpPr>
        <p:spPr>
          <a:xfrm>
            <a:off x="4882896" y="3154680"/>
            <a:ext cx="182880" cy="292608"/>
          </a:xfrm>
          <a:prstGeom prst="chevron">
            <a:avLst/>
          </a:prstGeom>
          <a:solidFill>
            <a:srgbClr val="D9CFC3"/>
          </a:solidFill>
          <a:ln/>
        </p:spPr>
      </p:sp>
      <p:sp>
        <p:nvSpPr>
          <p:cNvPr id="17" name="card-38"/>
          <p:cNvSpPr/>
          <p:nvPr/>
        </p:nvSpPr>
        <p:spPr>
          <a:xfrm>
            <a:off x="5120640" y="164592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8" name="icon-bg-39"/>
          <p:cNvSpPr/>
          <p:nvPr/>
        </p:nvSpPr>
        <p:spPr>
          <a:xfrm>
            <a:off x="58064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4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2125980"/>
            <a:ext cx="320040" cy="320040"/>
          </a:xfrm>
          <a:prstGeom prst="rect">
            <a:avLst/>
          </a:prstGeom>
        </p:spPr>
      </p:pic>
      <p:sp>
        <p:nvSpPr>
          <p:cNvPr id="20" name="text-41"/>
          <p:cNvSpPr txBox="1"/>
          <p:nvPr/>
        </p:nvSpPr>
        <p:spPr>
          <a:xfrm>
            <a:off x="5303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-42"/>
          <p:cNvSpPr txBox="1"/>
          <p:nvPr/>
        </p:nvSpPr>
        <p:spPr>
          <a:xfrm>
            <a:off x="52578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開一本書</a:t>
            </a:r>
            <a:endParaRPr lang="en-US" sz="1900" dirty="0"/>
          </a:p>
        </p:txBody>
      </p:sp>
      <p:sp>
        <p:nvSpPr>
          <p:cNvPr id="22" name="text-43"/>
          <p:cNvSpPr txBox="1"/>
          <p:nvPr/>
        </p:nvSpPr>
        <p:spPr>
          <a:xfrm>
            <a:off x="5303520" y="3657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訪談、設定集、大綱、章綱</a:t>
            </a:r>
            <a:endParaRPr lang="en-US" sz="1400" dirty="0"/>
          </a:p>
        </p:txBody>
      </p:sp>
      <p:sp>
        <p:nvSpPr>
          <p:cNvPr id="23" name="arrow-44"/>
          <p:cNvSpPr/>
          <p:nvPr/>
        </p:nvSpPr>
        <p:spPr>
          <a:xfrm>
            <a:off x="7168896" y="3154680"/>
            <a:ext cx="182880" cy="292608"/>
          </a:xfrm>
          <a:prstGeom prst="chevron">
            <a:avLst/>
          </a:prstGeom>
          <a:solidFill>
            <a:srgbClr val="D9CFC3"/>
          </a:solidFill>
          <a:ln/>
        </p:spPr>
      </p:sp>
      <p:sp>
        <p:nvSpPr>
          <p:cNvPr id="24" name="card-45"/>
          <p:cNvSpPr/>
          <p:nvPr/>
        </p:nvSpPr>
        <p:spPr>
          <a:xfrm>
            <a:off x="7406640" y="164592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5" name="icon-bg-46"/>
          <p:cNvSpPr/>
          <p:nvPr/>
        </p:nvSpPr>
        <p:spPr>
          <a:xfrm>
            <a:off x="80924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4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0" y="2125980"/>
            <a:ext cx="320040" cy="320040"/>
          </a:xfrm>
          <a:prstGeom prst="rect">
            <a:avLst/>
          </a:prstGeom>
        </p:spPr>
      </p:pic>
      <p:sp>
        <p:nvSpPr>
          <p:cNvPr id="27" name="text-48"/>
          <p:cNvSpPr txBox="1"/>
          <p:nvPr/>
        </p:nvSpPr>
        <p:spPr>
          <a:xfrm>
            <a:off x="7589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28" name="text-49"/>
          <p:cNvSpPr txBox="1"/>
          <p:nvPr/>
        </p:nvSpPr>
        <p:spPr>
          <a:xfrm>
            <a:off x="75438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寫章節</a:t>
            </a:r>
            <a:endParaRPr lang="en-US" sz="1900" dirty="0"/>
          </a:p>
        </p:txBody>
      </p:sp>
      <p:sp>
        <p:nvSpPr>
          <p:cNvPr id="29" name="text-50"/>
          <p:cNvSpPr txBox="1"/>
          <p:nvPr/>
        </p:nvSpPr>
        <p:spPr>
          <a:xfrm>
            <a:off x="7589520" y="3657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候選稿、審查、修訂、整章自動</a:t>
            </a:r>
            <a:endParaRPr lang="en-US" sz="1400" dirty="0"/>
          </a:p>
        </p:txBody>
      </p:sp>
      <p:sp>
        <p:nvSpPr>
          <p:cNvPr id="30" name="arrow-51"/>
          <p:cNvSpPr/>
          <p:nvPr/>
        </p:nvSpPr>
        <p:spPr>
          <a:xfrm>
            <a:off x="9454896" y="3154680"/>
            <a:ext cx="182880" cy="292608"/>
          </a:xfrm>
          <a:prstGeom prst="chevron">
            <a:avLst/>
          </a:prstGeom>
          <a:solidFill>
            <a:srgbClr val="D9CFC3"/>
          </a:solidFill>
          <a:ln/>
        </p:spPr>
      </p:sp>
      <p:sp>
        <p:nvSpPr>
          <p:cNvPr id="31" name="card-52"/>
          <p:cNvSpPr/>
          <p:nvPr/>
        </p:nvSpPr>
        <p:spPr>
          <a:xfrm>
            <a:off x="9692640" y="1645920"/>
            <a:ext cx="2011680" cy="3291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2" name="icon-bg-53"/>
          <p:cNvSpPr/>
          <p:nvPr/>
        </p:nvSpPr>
        <p:spPr>
          <a:xfrm>
            <a:off x="1037844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con-5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460" y="2125980"/>
            <a:ext cx="320040" cy="320040"/>
          </a:xfrm>
          <a:prstGeom prst="rect">
            <a:avLst/>
          </a:prstGeom>
        </p:spPr>
      </p:pic>
      <p:sp>
        <p:nvSpPr>
          <p:cNvPr id="34" name="text-55"/>
          <p:cNvSpPr txBox="1"/>
          <p:nvPr/>
        </p:nvSpPr>
        <p:spPr>
          <a:xfrm>
            <a:off x="98755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35" name="text-56"/>
          <p:cNvSpPr txBox="1"/>
          <p:nvPr/>
        </p:nvSpPr>
        <p:spPr>
          <a:xfrm>
            <a:off x="98298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管好長篇</a:t>
            </a:r>
            <a:endParaRPr lang="en-US" sz="1900" dirty="0"/>
          </a:p>
        </p:txBody>
      </p:sp>
      <p:sp>
        <p:nvSpPr>
          <p:cNvPr id="36" name="text-57"/>
          <p:cNvSpPr txBox="1"/>
          <p:nvPr/>
        </p:nvSpPr>
        <p:spPr>
          <a:xfrm>
            <a:off x="9875520" y="3657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伏筆、時間線、搜尋、舊稿、匯出</a:t>
            </a:r>
            <a:endParaRPr lang="en-US" sz="1400" dirty="0"/>
          </a:p>
        </p:txBody>
      </p:sp>
      <p:sp>
        <p:nvSpPr>
          <p:cNvPr id="37" name="text-58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14A"/>
                </a:solidFill>
              </a:rPr>
              <a:t>第一次用，建議先照 1 → 2 走完，再用示範書試寫一章。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C9A0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安裝與設定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E3D3"/>
                </a:solidFill>
              </a:rPr>
              <a:t>啟動工作台、選書庫、接上一個 AI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三步驟啟動工作台</a:t>
            </a:r>
            <a:endParaRPr lang="en-US" sz="3000" dirty="0"/>
          </a:p>
        </p:txBody>
      </p:sp>
      <p:sp>
        <p:nvSpPr>
          <p:cNvPr id="3" name="card-59"/>
          <p:cNvSpPr/>
          <p:nvPr/>
        </p:nvSpPr>
        <p:spPr>
          <a:xfrm>
            <a:off x="548640" y="12801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num-60"/>
          <p:cNvSpPr txBox="1"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-61"/>
          <p:cNvSpPr txBox="1"/>
          <p:nvPr/>
        </p:nvSpPr>
        <p:spPr>
          <a:xfrm>
            <a:off x="1371600" y="15179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準備</a:t>
            </a:r>
            <a:endParaRPr lang="en-US" sz="1900" dirty="0"/>
          </a:p>
        </p:txBody>
      </p:sp>
      <p:sp>
        <p:nvSpPr>
          <p:cNvPr id="6" name="text-62"/>
          <p:cNvSpPr txBox="1"/>
          <p:nvPr/>
        </p:nvSpPr>
        <p:spPr>
          <a:xfrm>
            <a:off x="822960" y="2103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Windows 10／11（macOS、Linux 也行）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Python 3.9 以上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要用 Claude Code：先安裝並登入</a:t>
            </a:r>
            <a:endParaRPr lang="en-US" sz="1400" dirty="0"/>
          </a:p>
        </p:txBody>
      </p:sp>
      <p:sp>
        <p:nvSpPr>
          <p:cNvPr id="7" name="card-63"/>
          <p:cNvSpPr/>
          <p:nvPr/>
        </p:nvSpPr>
        <p:spPr>
          <a:xfrm>
            <a:off x="4297680" y="12801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num-64"/>
          <p:cNvSpPr txBox="1"/>
          <p:nvPr/>
        </p:nvSpPr>
        <p:spPr>
          <a:xfrm>
            <a:off x="4526280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-65"/>
          <p:cNvSpPr txBox="1"/>
          <p:nvPr/>
        </p:nvSpPr>
        <p:spPr>
          <a:xfrm>
            <a:off x="5120640" y="15179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啟動</a:t>
            </a:r>
            <a:endParaRPr lang="en-US" sz="1900" dirty="0"/>
          </a:p>
        </p:txBody>
      </p:sp>
      <p:sp>
        <p:nvSpPr>
          <p:cNvPr id="10" name="text-66"/>
          <p:cNvSpPr txBox="1"/>
          <p:nvPr/>
        </p:nvSpPr>
        <p:spPr>
          <a:xfrm>
            <a:off x="4572000" y="2103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Windows 雙擊 start.bat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macOS／Linux 執行 ./start.sh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第一次會自動安裝套件</a:t>
            </a:r>
            <a:endParaRPr lang="en-US" sz="1400" dirty="0"/>
          </a:p>
        </p:txBody>
      </p:sp>
      <p:sp>
        <p:nvSpPr>
          <p:cNvPr id="11" name="card-67"/>
          <p:cNvSpPr/>
          <p:nvPr/>
        </p:nvSpPr>
        <p:spPr>
          <a:xfrm>
            <a:off x="8046720" y="12801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2" name="num-68"/>
          <p:cNvSpPr txBox="1"/>
          <p:nvPr/>
        </p:nvSpPr>
        <p:spPr>
          <a:xfrm>
            <a:off x="8275320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-69"/>
          <p:cNvSpPr txBox="1"/>
          <p:nvPr/>
        </p:nvSpPr>
        <p:spPr>
          <a:xfrm>
            <a:off x="8869680" y="15179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選書庫</a:t>
            </a:r>
            <a:endParaRPr lang="en-US" sz="1900" dirty="0"/>
          </a:p>
        </p:txBody>
      </p:sp>
      <p:sp>
        <p:nvSpPr>
          <p:cNvPr id="14" name="text-70"/>
          <p:cNvSpPr txBox="1"/>
          <p:nvPr/>
        </p:nvSpPr>
        <p:spPr>
          <a:xfrm>
            <a:off x="8321040" y="21031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瀏覽器自動打開工作台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書架頁請你選一個資料夾當書庫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514A"/>
                </a:solidFill>
              </a:rPr>
              <a:t>每本書是裡面的一個子資料夾</a:t>
            </a:r>
            <a:endParaRPr lang="en-US" sz="1400" dirty="0"/>
          </a:p>
        </p:txBody>
      </p:sp>
      <p:sp>
        <p:nvSpPr>
          <p:cNvPr id="15" name="shot-frame-71"/>
          <p:cNvSpPr/>
          <p:nvPr/>
        </p:nvSpPr>
        <p:spPr>
          <a:xfrm>
            <a:off x="548640" y="3703320"/>
            <a:ext cx="8503920" cy="2440255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6" name="shot-72" descr="書架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8503920" cy="2440255"/>
          </a:xfrm>
          <a:prstGeom prst="rect">
            <a:avLst/>
          </a:prstGeom>
        </p:spPr>
      </p:pic>
      <p:sp>
        <p:nvSpPr>
          <p:cNvPr id="17" name="text-73"/>
          <p:cNvSpPr txBox="1"/>
          <p:nvPr/>
        </p:nvSpPr>
        <p:spPr>
          <a:xfrm>
            <a:off x="9326880" y="374904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書架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選好書庫後會看到書架。可以「開新書」、「匯入舊稿」，或先加入示範書看看。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選一個 AI 執行者</a:t>
            </a:r>
            <a:endParaRPr lang="en-US" sz="3000" dirty="0"/>
          </a:p>
        </p:txBody>
      </p:sp>
      <p:sp>
        <p:nvSpPr>
          <p:cNvPr id="3" name="card-74"/>
          <p:cNvSpPr/>
          <p:nvPr/>
        </p:nvSpPr>
        <p:spPr>
          <a:xfrm>
            <a:off x="548640" y="128016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icon-bg-75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668780"/>
            <a:ext cx="320040" cy="320040"/>
          </a:xfrm>
          <a:prstGeom prst="rect">
            <a:avLst/>
          </a:prstGeom>
        </p:spPr>
      </p:pic>
      <p:sp>
        <p:nvSpPr>
          <p:cNvPr id="6" name="text-77"/>
          <p:cNvSpPr txBox="1"/>
          <p:nvPr/>
        </p:nvSpPr>
        <p:spPr>
          <a:xfrm>
            <a:off x="160020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Claude Code</a:t>
            </a:r>
            <a:endParaRPr lang="en-US" sz="1900" dirty="0"/>
          </a:p>
        </p:txBody>
      </p:sp>
      <p:sp>
        <p:nvSpPr>
          <p:cNvPr id="7" name="text-78"/>
          <p:cNvSpPr txBox="1"/>
          <p:nvPr/>
        </p:nvSpPr>
        <p:spPr>
          <a:xfrm>
            <a:off x="16002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用你的 Claude 訂閱</a:t>
            </a:r>
            <a:endParaRPr lang="en-US" sz="1300" dirty="0"/>
          </a:p>
        </p:txBody>
      </p:sp>
      <p:sp>
        <p:nvSpPr>
          <p:cNvPr id="8" name="text-79"/>
          <p:cNvSpPr txBox="1"/>
          <p:nvPr/>
        </p:nvSpPr>
        <p:spPr>
          <a:xfrm>
            <a:off x="822960" y="2468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自己讀寫檔案，所有功能都能用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內建 novel-* skills，不用另外安裝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可選 Sonnet、Opus、Haiku</a:t>
            </a:r>
            <a:endParaRPr lang="en-US" sz="1500" dirty="0"/>
          </a:p>
        </p:txBody>
      </p:sp>
      <p:sp>
        <p:nvSpPr>
          <p:cNvPr id="9" name="card-80"/>
          <p:cNvSpPr/>
          <p:nvPr/>
        </p:nvSpPr>
        <p:spPr>
          <a:xfrm>
            <a:off x="4297680" y="128016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icon-bg-81"/>
          <p:cNvSpPr/>
          <p:nvPr/>
        </p:nvSpPr>
        <p:spPr>
          <a:xfrm>
            <a:off x="45720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8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668780"/>
            <a:ext cx="320040" cy="320040"/>
          </a:xfrm>
          <a:prstGeom prst="rect">
            <a:avLst/>
          </a:prstGeom>
        </p:spPr>
      </p:pic>
      <p:sp>
        <p:nvSpPr>
          <p:cNvPr id="12" name="text-83"/>
          <p:cNvSpPr txBox="1"/>
          <p:nvPr/>
        </p:nvSpPr>
        <p:spPr>
          <a:xfrm>
            <a:off x="53492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DeepSeek</a:t>
            </a:r>
            <a:endParaRPr lang="en-US" sz="1900" dirty="0"/>
          </a:p>
        </p:txBody>
      </p:sp>
      <p:sp>
        <p:nvSpPr>
          <p:cNvPr id="13" name="text-84"/>
          <p:cNvSpPr txBox="1"/>
          <p:nvPr/>
        </p:nvSpPr>
        <p:spPr>
          <a:xfrm>
            <a:off x="5349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按用量付費的 API</a:t>
            </a:r>
            <a:endParaRPr lang="en-US" sz="1300" dirty="0"/>
          </a:p>
        </p:txBody>
      </p:sp>
      <p:sp>
        <p:nvSpPr>
          <p:cNvPr id="14" name="text-85"/>
          <p:cNvSpPr txBox="1"/>
          <p:nvPr/>
        </p:nvSpPr>
        <p:spPr>
          <a:xfrm>
            <a:off x="4572000" y="2468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便宜，中文表現好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工作台組好資料送出，結果由程式檢查後存檔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同一家可以加好幾個模型</a:t>
            </a:r>
            <a:endParaRPr lang="en-US" sz="1500" dirty="0"/>
          </a:p>
        </p:txBody>
      </p:sp>
      <p:sp>
        <p:nvSpPr>
          <p:cNvPr id="15" name="card-86"/>
          <p:cNvSpPr/>
          <p:nvPr/>
        </p:nvSpPr>
        <p:spPr>
          <a:xfrm>
            <a:off x="8046720" y="128016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icon-bg-87"/>
          <p:cNvSpPr/>
          <p:nvPr/>
        </p:nvSpPr>
        <p:spPr>
          <a:xfrm>
            <a:off x="832104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668780"/>
            <a:ext cx="320040" cy="320040"/>
          </a:xfrm>
          <a:prstGeom prst="rect">
            <a:avLst/>
          </a:prstGeom>
        </p:spPr>
      </p:pic>
      <p:sp>
        <p:nvSpPr>
          <p:cNvPr id="18" name="text-89"/>
          <p:cNvSpPr txBox="1"/>
          <p:nvPr/>
        </p:nvSpPr>
        <p:spPr>
          <a:xfrm>
            <a:off x="909828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llama.cpp（本機）</a:t>
            </a:r>
            <a:endParaRPr lang="en-US" sz="1900" dirty="0"/>
          </a:p>
        </p:txBody>
      </p:sp>
      <p:sp>
        <p:nvSpPr>
          <p:cNvPr id="19" name="text-90"/>
          <p:cNvSpPr txBox="1"/>
          <p:nvPr/>
        </p:nvSpPr>
        <p:spPr>
          <a:xfrm>
            <a:off x="90982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用自己的顯示卡</a:t>
            </a:r>
            <a:endParaRPr lang="en-US" sz="1300" dirty="0"/>
          </a:p>
        </p:txBody>
      </p:sp>
      <p:sp>
        <p:nvSpPr>
          <p:cNvPr id="20" name="text-91"/>
          <p:cNvSpPr txBox="1"/>
          <p:nvPr/>
        </p:nvSpPr>
        <p:spPr>
          <a:xfrm>
            <a:off x="8321040" y="24688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完全不連網、不花錢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品質看模型，建議先用短章節試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LM Studio、Ollama 也能接</a:t>
            </a:r>
            <a:endParaRPr lang="en-US" sz="1500" dirty="0"/>
          </a:p>
        </p:txBody>
      </p:sp>
      <p:sp>
        <p:nvSpPr>
          <p:cNvPr id="21" name="card-92"/>
          <p:cNvSpPr/>
          <p:nvPr/>
        </p:nvSpPr>
        <p:spPr>
          <a:xfrm>
            <a:off x="548640" y="51663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3E6DF"/>
          </a:solidFill>
          <a:ln/>
        </p:spPr>
      </p:sp>
      <p:sp>
        <p:nvSpPr>
          <p:cNvPr id="22" name="icon-bg-93"/>
          <p:cNvSpPr/>
          <p:nvPr/>
        </p:nvSpPr>
        <p:spPr>
          <a:xfrm>
            <a:off x="731520" y="523951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-9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5353812"/>
            <a:ext cx="228600" cy="228600"/>
          </a:xfrm>
          <a:prstGeom prst="rect">
            <a:avLst/>
          </a:prstGeom>
        </p:spPr>
      </p:pic>
      <p:sp>
        <p:nvSpPr>
          <p:cNvPr id="24" name="text-95"/>
          <p:cNvSpPr txBox="1"/>
          <p:nvPr/>
        </p:nvSpPr>
        <p:spPr>
          <a:xfrm>
            <a:off x="1325880" y="523951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不用只選一個：所有按鈕都能用任何一種執行者；整章自動流程還可以每一步各自指定。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以 DeepSeek 為例：接上 AI</a:t>
            </a:r>
            <a:endParaRPr lang="en-US" sz="3000" dirty="0"/>
          </a:p>
        </p:txBody>
      </p:sp>
      <p:sp>
        <p:nvSpPr>
          <p:cNvPr id="3" name="num-96"/>
          <p:cNvSpPr txBox="1"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-97"/>
          <p:cNvSpPr txBox="1"/>
          <p:nvPr/>
        </p:nvSpPr>
        <p:spPr>
          <a:xfrm>
            <a:off x="1188720" y="134416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到 DeepSeek 開放平台建立 API 金鑰</a:t>
            </a:r>
            <a:endParaRPr lang="en-US" sz="1500" dirty="0"/>
          </a:p>
        </p:txBody>
      </p:sp>
      <p:sp>
        <p:nvSpPr>
          <p:cNvPr id="5" name="num-98"/>
          <p:cNvSpPr txBox="1"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6" name="text-99"/>
          <p:cNvSpPr txBox="1"/>
          <p:nvPr/>
        </p:nvSpPr>
        <p:spPr>
          <a:xfrm>
            <a:off x="1188720" y="22128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工作台「設定 → AI 執行者 → DeepSeek」貼上金鑰</a:t>
            </a:r>
            <a:endParaRPr lang="en-US" sz="1500" dirty="0"/>
          </a:p>
        </p:txBody>
      </p:sp>
      <p:sp>
        <p:nvSpPr>
          <p:cNvPr id="7" name="num-100"/>
          <p:cNvSpPr txBox="1"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8" name="text-101"/>
          <p:cNvSpPr txBox="1"/>
          <p:nvPr/>
        </p:nvSpPr>
        <p:spPr>
          <a:xfrm>
            <a:off x="1188720" y="30815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按「測試連線／抓模型清單」，選模型</a:t>
            </a:r>
            <a:endParaRPr lang="en-US" sz="1500" dirty="0"/>
          </a:p>
        </p:txBody>
      </p:sp>
      <p:sp>
        <p:nvSpPr>
          <p:cNvPr id="9" name="num-102"/>
          <p:cNvSpPr txBox="1"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0" name="text-103"/>
          <p:cNvSpPr txBox="1"/>
          <p:nvPr/>
        </p:nvSpPr>
        <p:spPr>
          <a:xfrm>
            <a:off x="1188720" y="395020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填上下文長度與價格（選填，用來估算費用）</a:t>
            </a:r>
            <a:endParaRPr lang="en-US" sz="1500" dirty="0"/>
          </a:p>
        </p:txBody>
      </p:sp>
      <p:sp>
        <p:nvSpPr>
          <p:cNvPr id="11" name="num-104"/>
          <p:cNvSpPr txBox="1"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2" name="text-105"/>
          <p:cNvSpPr txBox="1"/>
          <p:nvPr/>
        </p:nvSpPr>
        <p:spPr>
          <a:xfrm>
            <a:off x="1188720" y="48188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想用好幾個模型：在「可用模型」點選加入</a:t>
            </a:r>
            <a:endParaRPr lang="en-US" sz="1500" dirty="0"/>
          </a:p>
        </p:txBody>
      </p:sp>
      <p:sp>
        <p:nvSpPr>
          <p:cNvPr id="13" name="text-106"/>
          <p:cNvSpPr txBox="1"/>
          <p:nvPr/>
        </p:nvSpPr>
        <p:spPr>
          <a:xfrm>
            <a:off x="548640" y="5669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金鑰存在哪？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預設存進 Windows 認證管理員，專案資料夾裡不留金鑰檔。</a:t>
            </a:r>
            <a:endParaRPr lang="en-US" sz="1300" dirty="0"/>
          </a:p>
        </p:txBody>
      </p:sp>
      <p:sp>
        <p:nvSpPr>
          <p:cNvPr id="14" name="shot-frame-107"/>
          <p:cNvSpPr/>
          <p:nvPr/>
        </p:nvSpPr>
        <p:spPr>
          <a:xfrm>
            <a:off x="5577840" y="1325880"/>
            <a:ext cx="6035040" cy="3473227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shot-108" descr="設定頁的 AI 執行者區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5880"/>
            <a:ext cx="6035040" cy="34732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C9A0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認識介面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E3D3"/>
                </a:solidFill>
              </a:rPr>
              <a:t>三個區塊，記住就不會迷路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畫面分成三塊</a:t>
            </a:r>
            <a:endParaRPr lang="en-US" sz="3000" dirty="0"/>
          </a:p>
        </p:txBody>
      </p:sp>
      <p:sp>
        <p:nvSpPr>
          <p:cNvPr id="3" name="shot-frame-109"/>
          <p:cNvSpPr/>
          <p:nvPr/>
        </p:nvSpPr>
        <p:spPr>
          <a:xfrm>
            <a:off x="548640" y="1188720"/>
            <a:ext cx="8412480" cy="5257800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hot-110" descr="總覽頁與右側 AI 面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412480" cy="5257800"/>
          </a:xfrm>
          <a:prstGeom prst="rect">
            <a:avLst/>
          </a:prstGeom>
        </p:spPr>
      </p:pic>
      <p:sp>
        <p:nvSpPr>
          <p:cNvPr id="5" name="num-111"/>
          <p:cNvSpPr txBox="1"/>
          <p:nvPr/>
        </p:nvSpPr>
        <p:spPr>
          <a:xfrm>
            <a:off x="1053389" y="355473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num-112"/>
          <p:cNvSpPr txBox="1"/>
          <p:nvPr/>
        </p:nvSpPr>
        <p:spPr>
          <a:xfrm>
            <a:off x="3324758" y="20299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num-113"/>
          <p:cNvSpPr txBox="1"/>
          <p:nvPr/>
        </p:nvSpPr>
        <p:spPr>
          <a:xfrm>
            <a:off x="7110374" y="181965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num-114"/>
          <p:cNvSpPr txBox="1"/>
          <p:nvPr/>
        </p:nvSpPr>
        <p:spPr>
          <a:xfrm>
            <a:off x="9281160" y="1188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-115"/>
          <p:cNvSpPr txBox="1"/>
          <p:nvPr/>
        </p:nvSpPr>
        <p:spPr>
          <a:xfrm>
            <a:off x="9784080" y="1207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左側選單</a:t>
            </a:r>
            <a:endParaRPr lang="en-US" sz="1700" dirty="0"/>
          </a:p>
        </p:txBody>
      </p:sp>
      <p:sp>
        <p:nvSpPr>
          <p:cNvPr id="10" name="text-116"/>
          <p:cNvSpPr txBox="1"/>
          <p:nvPr/>
        </p:nvSpPr>
        <p:spPr>
          <a:xfrm>
            <a:off x="9281160" y="16459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上面是這本書的頁面：總覽、章節、大綱、設定集、伏筆與時間線、任務紀錄、插圖、匯出。最下面是書架、共用庫、匯入舊稿、設定。</a:t>
            </a:r>
            <a:endParaRPr lang="en-US" sz="1300" dirty="0"/>
          </a:p>
        </p:txBody>
      </p:sp>
      <p:sp>
        <p:nvSpPr>
          <p:cNvPr id="11" name="num-117"/>
          <p:cNvSpPr txBox="1"/>
          <p:nvPr/>
        </p:nvSpPr>
        <p:spPr>
          <a:xfrm>
            <a:off x="9281160" y="2971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-118"/>
          <p:cNvSpPr txBox="1"/>
          <p:nvPr/>
        </p:nvSpPr>
        <p:spPr>
          <a:xfrm>
            <a:off x="9784080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主畫面</a:t>
            </a:r>
            <a:endParaRPr lang="en-US" sz="1700" dirty="0"/>
          </a:p>
        </p:txBody>
      </p:sp>
      <p:sp>
        <p:nvSpPr>
          <p:cNvPr id="13" name="text-119"/>
          <p:cNvSpPr txBox="1"/>
          <p:nvPr/>
        </p:nvSpPr>
        <p:spPr>
          <a:xfrm>
            <a:off x="9281160" y="34290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看資料、編輯、按「審閱」「採用」等按鈕。總覽的「需要注意」會告訴你下一步該做什麼。</a:t>
            </a:r>
            <a:endParaRPr lang="en-US" sz="1300" dirty="0"/>
          </a:p>
        </p:txBody>
      </p:sp>
      <p:sp>
        <p:nvSpPr>
          <p:cNvPr id="14" name="num-120"/>
          <p:cNvSpPr txBox="1"/>
          <p:nvPr/>
        </p:nvSpPr>
        <p:spPr>
          <a:xfrm>
            <a:off x="9281160" y="4754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-121"/>
          <p:cNvSpPr txBox="1"/>
          <p:nvPr/>
        </p:nvSpPr>
        <p:spPr>
          <a:xfrm>
            <a:off x="9784080" y="4773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面板</a:t>
            </a:r>
            <a:endParaRPr lang="en-US" sz="1700" dirty="0"/>
          </a:p>
        </p:txBody>
      </p:sp>
      <p:sp>
        <p:nvSpPr>
          <p:cNvPr id="16" name="text-122"/>
          <p:cNvSpPr txBox="1"/>
          <p:nvPr/>
        </p:nvSpPr>
        <p:spPr>
          <a:xfrm>
            <a:off x="9281160" y="52120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選執行者、按動作按鈕，看 AI 即時輸出；AI 問你問題時在下面回覆。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先用示範書練習</a:t>
            </a:r>
            <a:endParaRPr lang="en-US" sz="3000" dirty="0"/>
          </a:p>
        </p:txBody>
      </p:sp>
      <p:sp>
        <p:nvSpPr>
          <p:cNvPr id="3" name="icon-bg-123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1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28750"/>
            <a:ext cx="297180" cy="297180"/>
          </a:xfrm>
          <a:prstGeom prst="rect">
            <a:avLst/>
          </a:prstGeom>
        </p:spPr>
      </p:pic>
      <p:sp>
        <p:nvSpPr>
          <p:cNvPr id="5" name="text-125"/>
          <p:cNvSpPr txBox="1"/>
          <p:nvPr/>
        </p:nvSpPr>
        <p:spPr>
          <a:xfrm>
            <a:off x="137160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加入示範書</a:t>
            </a:r>
            <a:endParaRPr lang="en-US" sz="1700" dirty="0"/>
          </a:p>
        </p:txBody>
      </p:sp>
      <p:sp>
        <p:nvSpPr>
          <p:cNvPr id="6" name="text-126"/>
          <p:cNvSpPr txBox="1"/>
          <p:nvPr/>
        </p:nvSpPr>
        <p:spPr>
          <a:xfrm>
            <a:off x="1371600" y="166420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書架按「加入示範書」，會多一本《退婚之後（示範）》。</a:t>
            </a:r>
            <a:endParaRPr lang="en-US" sz="1400" dirty="0"/>
          </a:p>
        </p:txBody>
      </p:sp>
      <p:sp>
        <p:nvSpPr>
          <p:cNvPr id="7" name="icon-bg-127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-1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617470"/>
            <a:ext cx="297180" cy="297180"/>
          </a:xfrm>
          <a:prstGeom prst="rect">
            <a:avLst/>
          </a:prstGeom>
        </p:spPr>
      </p:pic>
      <p:sp>
        <p:nvSpPr>
          <p:cNvPr id="9" name="text-129"/>
          <p:cNvSpPr txBox="1"/>
          <p:nvPr/>
        </p:nvSpPr>
        <p:spPr>
          <a:xfrm>
            <a:off x="13716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逛一圈</a:t>
            </a:r>
            <a:endParaRPr lang="en-US" sz="1700" dirty="0"/>
          </a:p>
        </p:txBody>
      </p:sp>
      <p:sp>
        <p:nvSpPr>
          <p:cNvPr id="10" name="text-130"/>
          <p:cNvSpPr txBox="1"/>
          <p:nvPr/>
        </p:nvSpPr>
        <p:spPr>
          <a:xfrm>
            <a:off x="1371600" y="28529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看總覽的章綱進度、狀態卡；設定集裡有角色和世界觀。</a:t>
            </a:r>
            <a:endParaRPr lang="en-US" sz="1400" dirty="0"/>
          </a:p>
        </p:txBody>
      </p:sp>
      <p:sp>
        <p:nvSpPr>
          <p:cNvPr id="11" name="icon-bg-131"/>
          <p:cNvSpPr/>
          <p:nvPr/>
        </p:nvSpPr>
        <p:spPr>
          <a:xfrm>
            <a:off x="548640" y="3657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1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806190"/>
            <a:ext cx="297180" cy="297180"/>
          </a:xfrm>
          <a:prstGeom prst="rect">
            <a:avLst/>
          </a:prstGeom>
        </p:spPr>
      </p:pic>
      <p:sp>
        <p:nvSpPr>
          <p:cNvPr id="13" name="text-133"/>
          <p:cNvSpPr txBox="1"/>
          <p:nvPr/>
        </p:nvSpPr>
        <p:spPr>
          <a:xfrm>
            <a:off x="137160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試一次候選稿</a:t>
            </a:r>
            <a:endParaRPr lang="en-US" sz="1700" dirty="0"/>
          </a:p>
        </p:txBody>
      </p:sp>
      <p:sp>
        <p:nvSpPr>
          <p:cNvPr id="14" name="text-134"/>
          <p:cNvSpPr txBox="1"/>
          <p:nvPr/>
        </p:nvSpPr>
        <p:spPr>
          <a:xfrm>
            <a:off x="1371600" y="40416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第 3 章已經有一份候選稿：打開它，試試「採用」或「退回重寫」。</a:t>
            </a:r>
            <a:endParaRPr lang="en-US" sz="1400" dirty="0"/>
          </a:p>
        </p:txBody>
      </p:sp>
      <p:sp>
        <p:nvSpPr>
          <p:cNvPr id="15" name="icon-bg-135"/>
          <p:cNvSpPr/>
          <p:nvPr/>
        </p:nvSpPr>
        <p:spPr>
          <a:xfrm>
            <a:off x="548640" y="4846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3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" y="4994910"/>
            <a:ext cx="297180" cy="297180"/>
          </a:xfrm>
          <a:prstGeom prst="rect">
            <a:avLst/>
          </a:prstGeom>
        </p:spPr>
      </p:pic>
      <p:sp>
        <p:nvSpPr>
          <p:cNvPr id="17" name="text-137"/>
          <p:cNvSpPr txBox="1"/>
          <p:nvPr/>
        </p:nvSpPr>
        <p:spPr>
          <a:xfrm>
            <a:off x="1371600" y="4846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放心亂按</a:t>
            </a:r>
            <a:endParaRPr lang="en-US" sz="1700" dirty="0"/>
          </a:p>
        </p:txBody>
      </p:sp>
      <p:sp>
        <p:nvSpPr>
          <p:cNvPr id="18" name="text-138"/>
          <p:cNvSpPr txBox="1"/>
          <p:nvPr/>
        </p:nvSpPr>
        <p:spPr>
          <a:xfrm>
            <a:off x="1371600" y="523036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示範書是複本，弄壞了刪掉再加一次就好。</a:t>
            </a:r>
            <a:endParaRPr lang="en-US" sz="1400" dirty="0"/>
          </a:p>
        </p:txBody>
      </p:sp>
      <p:sp>
        <p:nvSpPr>
          <p:cNvPr id="19" name="shot-frame-139"/>
          <p:cNvSpPr/>
          <p:nvPr/>
        </p:nvSpPr>
        <p:spPr>
          <a:xfrm>
            <a:off x="5852160" y="1325880"/>
            <a:ext cx="5760720" cy="3600450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shot-140" descr="示範書的總覽頁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325880"/>
            <a:ext cx="5760720" cy="3600450"/>
          </a:xfrm>
          <a:prstGeom prst="rect">
            <a:avLst/>
          </a:prstGeom>
        </p:spPr>
      </p:pic>
      <p:sp>
        <p:nvSpPr>
          <p:cNvPr id="21" name="text-141"/>
          <p:cNvSpPr txBox="1"/>
          <p:nvPr/>
        </p:nvSpPr>
        <p:spPr>
          <a:xfrm>
            <a:off x="5852160" y="5029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17A"/>
                </a:solidFill>
              </a:rPr>
              <a:t>總覽：已寫章數、字數、章綱進度、需要注意、狀態卡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C9A0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開一本書到寫出第一章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E3D3"/>
                </a:solidFill>
              </a:rPr>
              <a:t>設定先打好，AI 寫出來才不會走樣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開新書的順序</a:t>
            </a:r>
            <a:endParaRPr lang="en-US" sz="3000" dirty="0"/>
          </a:p>
        </p:txBody>
      </p:sp>
      <p:sp>
        <p:nvSpPr>
          <p:cNvPr id="3" name="chev-142"/>
          <p:cNvSpPr/>
          <p:nvPr/>
        </p:nvSpPr>
        <p:spPr>
          <a:xfrm>
            <a:off x="548640" y="1280160"/>
            <a:ext cx="2286000" cy="105156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4" name="text-143"/>
          <p:cNvSpPr txBox="1"/>
          <p:nvPr/>
        </p:nvSpPr>
        <p:spPr>
          <a:xfrm>
            <a:off x="96012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開書訪談</a:t>
            </a:r>
            <a:endParaRPr lang="en-US" sz="1500" dirty="0"/>
          </a:p>
        </p:txBody>
      </p:sp>
      <p:sp>
        <p:nvSpPr>
          <p:cNvPr id="5" name="text-144"/>
          <p:cNvSpPr txBox="1"/>
          <p:nvPr/>
        </p:nvSpPr>
        <p:spPr>
          <a:xfrm>
            <a:off x="96012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3D3"/>
                </a:solidFill>
              </a:rPr>
              <a:t>回答 AI 的問題</a:t>
            </a:r>
            <a:endParaRPr lang="en-US" sz="1200" dirty="0"/>
          </a:p>
        </p:txBody>
      </p:sp>
      <p:sp>
        <p:nvSpPr>
          <p:cNvPr id="6" name="chev-145"/>
          <p:cNvSpPr/>
          <p:nvPr/>
        </p:nvSpPr>
        <p:spPr>
          <a:xfrm>
            <a:off x="2788920" y="1280160"/>
            <a:ext cx="2286000" cy="1051560"/>
          </a:xfrm>
          <a:prstGeom prst="chevron">
            <a:avLst/>
          </a:prstGeom>
          <a:solidFill>
            <a:srgbClr val="EADBD3"/>
          </a:solidFill>
          <a:ln/>
        </p:spPr>
      </p:sp>
      <p:sp>
        <p:nvSpPr>
          <p:cNvPr id="7" name="text-146"/>
          <p:cNvSpPr txBox="1"/>
          <p:nvPr/>
        </p:nvSpPr>
        <p:spPr>
          <a:xfrm>
            <a:off x="320040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故事核心與文風</a:t>
            </a:r>
            <a:endParaRPr lang="en-US" sz="1500" dirty="0"/>
          </a:p>
        </p:txBody>
      </p:sp>
      <p:sp>
        <p:nvSpPr>
          <p:cNvPr id="8" name="text-147"/>
          <p:cNvSpPr txBox="1"/>
          <p:nvPr/>
        </p:nvSpPr>
        <p:spPr>
          <a:xfrm>
            <a:off x="320040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一句話、主線、語氣</a:t>
            </a:r>
            <a:endParaRPr lang="en-US" sz="1200" dirty="0"/>
          </a:p>
        </p:txBody>
      </p:sp>
      <p:sp>
        <p:nvSpPr>
          <p:cNvPr id="9" name="chev-148"/>
          <p:cNvSpPr/>
          <p:nvPr/>
        </p:nvSpPr>
        <p:spPr>
          <a:xfrm>
            <a:off x="5029200" y="1280160"/>
            <a:ext cx="2286000" cy="1051560"/>
          </a:xfrm>
          <a:prstGeom prst="chevron">
            <a:avLst/>
          </a:prstGeom>
          <a:solidFill>
            <a:srgbClr val="EADBD3"/>
          </a:solidFill>
          <a:ln/>
        </p:spPr>
      </p:sp>
      <p:sp>
        <p:nvSpPr>
          <p:cNvPr id="10" name="text-149"/>
          <p:cNvSpPr txBox="1"/>
          <p:nvPr/>
        </p:nvSpPr>
        <p:spPr>
          <a:xfrm>
            <a:off x="544068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角色與設定集</a:t>
            </a:r>
            <a:endParaRPr lang="en-US" sz="1500" dirty="0"/>
          </a:p>
        </p:txBody>
      </p:sp>
      <p:sp>
        <p:nvSpPr>
          <p:cNvPr id="11" name="text-150"/>
          <p:cNvSpPr txBox="1"/>
          <p:nvPr/>
        </p:nvSpPr>
        <p:spPr>
          <a:xfrm>
            <a:off x="544068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人物、勢力、世界觀</a:t>
            </a:r>
            <a:endParaRPr lang="en-US" sz="1200" dirty="0"/>
          </a:p>
        </p:txBody>
      </p:sp>
      <p:sp>
        <p:nvSpPr>
          <p:cNvPr id="12" name="chev-151"/>
          <p:cNvSpPr/>
          <p:nvPr/>
        </p:nvSpPr>
        <p:spPr>
          <a:xfrm>
            <a:off x="7269480" y="1280160"/>
            <a:ext cx="2286000" cy="1051560"/>
          </a:xfrm>
          <a:prstGeom prst="chevron">
            <a:avLst/>
          </a:prstGeom>
          <a:solidFill>
            <a:srgbClr val="EADBD3"/>
          </a:solidFill>
          <a:ln/>
        </p:spPr>
      </p:sp>
      <p:sp>
        <p:nvSpPr>
          <p:cNvPr id="13" name="text-152"/>
          <p:cNvSpPr txBox="1"/>
          <p:nvPr/>
        </p:nvSpPr>
        <p:spPr>
          <a:xfrm>
            <a:off x="768096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全書大綱、卷綱</a:t>
            </a:r>
            <a:endParaRPr lang="en-US" sz="1500" dirty="0"/>
          </a:p>
        </p:txBody>
      </p:sp>
      <p:sp>
        <p:nvSpPr>
          <p:cNvPr id="14" name="text-153"/>
          <p:cNvSpPr txBox="1"/>
          <p:nvPr/>
        </p:nvSpPr>
        <p:spPr>
          <a:xfrm>
            <a:off x="768096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先看提案再確認</a:t>
            </a:r>
            <a:endParaRPr lang="en-US" sz="1200" dirty="0"/>
          </a:p>
        </p:txBody>
      </p:sp>
      <p:sp>
        <p:nvSpPr>
          <p:cNvPr id="15" name="chev-154"/>
          <p:cNvSpPr/>
          <p:nvPr/>
        </p:nvSpPr>
        <p:spPr>
          <a:xfrm>
            <a:off x="9509760" y="1280160"/>
            <a:ext cx="2286000" cy="1051560"/>
          </a:xfrm>
          <a:prstGeom prst="chevron">
            <a:avLst/>
          </a:prstGeom>
          <a:solidFill>
            <a:srgbClr val="EADBD3"/>
          </a:solidFill>
          <a:ln/>
        </p:spPr>
      </p:sp>
      <p:sp>
        <p:nvSpPr>
          <p:cNvPr id="16" name="text-155"/>
          <p:cNvSpPr txBox="1"/>
          <p:nvPr/>
        </p:nvSpPr>
        <p:spPr>
          <a:xfrm>
            <a:off x="992124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排章綱</a:t>
            </a:r>
            <a:endParaRPr lang="en-US" sz="1500" dirty="0"/>
          </a:p>
        </p:txBody>
      </p:sp>
      <p:sp>
        <p:nvSpPr>
          <p:cNvPr id="17" name="text-156"/>
          <p:cNvSpPr txBox="1"/>
          <p:nvPr/>
        </p:nvSpPr>
        <p:spPr>
          <a:xfrm>
            <a:off x="9921240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258"/>
                </a:solidFill>
              </a:rPr>
              <a:t>每章的情節點</a:t>
            </a:r>
            <a:endParaRPr lang="en-US" sz="1200" dirty="0"/>
          </a:p>
        </p:txBody>
      </p:sp>
      <p:sp>
        <p:nvSpPr>
          <p:cNvPr id="18" name="text-157"/>
          <p:cNvSpPr txBox="1"/>
          <p:nvPr/>
        </p:nvSpPr>
        <p:spPr>
          <a:xfrm>
            <a:off x="548640" y="26974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怎麼開始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書架按「開新書」，填書名和一句構想，會自動開始開書訪談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之後每一步都在右側 AI 面板按對應的按鈕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全書大綱、卷綱、排章綱會先給提案，你在面板回覆「確認」才寫入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AI 生成的設定先放「草稿」，看過再按「草稿轉正式」</a:t>
            </a:r>
            <a:endParaRPr lang="en-US" sz="1500" dirty="0"/>
          </a:p>
        </p:txBody>
      </p:sp>
      <p:sp>
        <p:nvSpPr>
          <p:cNvPr id="19" name="shot-frame-158"/>
          <p:cNvSpPr/>
          <p:nvPr/>
        </p:nvSpPr>
        <p:spPr>
          <a:xfrm>
            <a:off x="5760720" y="2697480"/>
            <a:ext cx="5705856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shot-159" descr="設定集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697480"/>
            <a:ext cx="5705856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寫章節：先進候選稿</a:t>
            </a:r>
            <a:endParaRPr lang="en-US" sz="3000" dirty="0"/>
          </a:p>
        </p:txBody>
      </p:sp>
      <p:sp>
        <p:nvSpPr>
          <p:cNvPr id="3" name="shot-frame-160"/>
          <p:cNvSpPr/>
          <p:nvPr/>
        </p:nvSpPr>
        <p:spPr>
          <a:xfrm>
            <a:off x="548640" y="1188720"/>
            <a:ext cx="6729984" cy="4206240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hot-161" descr="第 3 章候選稿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29984" cy="4206240"/>
          </a:xfrm>
          <a:prstGeom prst="rect">
            <a:avLst/>
          </a:prstGeom>
        </p:spPr>
      </p:pic>
      <p:sp>
        <p:nvSpPr>
          <p:cNvPr id="5" name="icon-bg-162"/>
          <p:cNvSpPr/>
          <p:nvPr/>
        </p:nvSpPr>
        <p:spPr>
          <a:xfrm>
            <a:off x="7543800" y="1188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-16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25880"/>
            <a:ext cx="274320" cy="274320"/>
          </a:xfrm>
          <a:prstGeom prst="rect">
            <a:avLst/>
          </a:prstGeom>
        </p:spPr>
      </p:pic>
      <p:sp>
        <p:nvSpPr>
          <p:cNvPr id="7" name="text-164"/>
          <p:cNvSpPr txBox="1"/>
          <p:nvPr/>
        </p:nvSpPr>
        <p:spPr>
          <a:xfrm>
            <a:off x="827532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採用</a:t>
            </a:r>
            <a:endParaRPr lang="en-US" sz="1600" dirty="0"/>
          </a:p>
        </p:txBody>
      </p:sp>
      <p:sp>
        <p:nvSpPr>
          <p:cNvPr id="8" name="text-165"/>
          <p:cNvSpPr txBox="1"/>
          <p:nvPr/>
        </p:nvSpPr>
        <p:spPr>
          <a:xfrm>
            <a:off x="8275320" y="15544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移進正文，接著回寫追蹤：摘要、狀態卡、角色、伏筆、時間線</a:t>
            </a:r>
            <a:endParaRPr lang="en-US" sz="1300" dirty="0"/>
          </a:p>
        </p:txBody>
      </p:sp>
      <p:sp>
        <p:nvSpPr>
          <p:cNvPr id="9" name="icon-bg-166"/>
          <p:cNvSpPr/>
          <p:nvPr/>
        </p:nvSpPr>
        <p:spPr>
          <a:xfrm>
            <a:off x="7543800" y="2267712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-1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404872"/>
            <a:ext cx="274320" cy="274320"/>
          </a:xfrm>
          <a:prstGeom prst="rect">
            <a:avLst/>
          </a:prstGeom>
        </p:spPr>
      </p:pic>
      <p:sp>
        <p:nvSpPr>
          <p:cNvPr id="11" name="text-168"/>
          <p:cNvSpPr txBox="1"/>
          <p:nvPr/>
        </p:nvSpPr>
        <p:spPr>
          <a:xfrm>
            <a:off x="8275320" y="22677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退回重寫</a:t>
            </a:r>
            <a:endParaRPr lang="en-US" sz="1600" dirty="0"/>
          </a:p>
        </p:txBody>
      </p:sp>
      <p:sp>
        <p:nvSpPr>
          <p:cNvPr id="12" name="text-169"/>
          <p:cNvSpPr txBox="1"/>
          <p:nvPr/>
        </p:nvSpPr>
        <p:spPr>
          <a:xfrm>
            <a:off x="8275320" y="26334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寫下意見，AI 照意見改寫候選稿</a:t>
            </a:r>
            <a:endParaRPr lang="en-US" sz="1300" dirty="0"/>
          </a:p>
        </p:txBody>
      </p:sp>
      <p:sp>
        <p:nvSpPr>
          <p:cNvPr id="13" name="icon-bg-170"/>
          <p:cNvSpPr/>
          <p:nvPr/>
        </p:nvSpPr>
        <p:spPr>
          <a:xfrm>
            <a:off x="7543800" y="334670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-1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483864"/>
            <a:ext cx="274320" cy="274320"/>
          </a:xfrm>
          <a:prstGeom prst="rect">
            <a:avLst/>
          </a:prstGeom>
        </p:spPr>
      </p:pic>
      <p:sp>
        <p:nvSpPr>
          <p:cNvPr id="15" name="text-172"/>
          <p:cNvSpPr txBox="1"/>
          <p:nvPr/>
        </p:nvSpPr>
        <p:spPr>
          <a:xfrm>
            <a:off x="8275320" y="33467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去 AI 味</a:t>
            </a:r>
            <a:endParaRPr lang="en-US" sz="1600" dirty="0"/>
          </a:p>
        </p:txBody>
      </p:sp>
      <p:sp>
        <p:nvSpPr>
          <p:cNvPr id="16" name="text-173"/>
          <p:cNvSpPr txBox="1"/>
          <p:nvPr/>
        </p:nvSpPr>
        <p:spPr>
          <a:xfrm>
            <a:off x="8275320" y="37124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逐處列出要改的句子和原因，你逐段確認</a:t>
            </a:r>
            <a:endParaRPr lang="en-US" sz="1300" dirty="0"/>
          </a:p>
        </p:txBody>
      </p:sp>
      <p:sp>
        <p:nvSpPr>
          <p:cNvPr id="17" name="icon-bg-174"/>
          <p:cNvSpPr/>
          <p:nvPr/>
        </p:nvSpPr>
        <p:spPr>
          <a:xfrm>
            <a:off x="7543800" y="4425696"/>
            <a:ext cx="548640" cy="548640"/>
          </a:xfrm>
          <a:prstGeom prst="ellipse">
            <a:avLst/>
          </a:prstGeom>
          <a:solidFill>
            <a:srgbClr val="9C8F84"/>
          </a:solidFill>
          <a:ln/>
        </p:spPr>
      </p:sp>
      <p:pic>
        <p:nvPicPr>
          <p:cNvPr id="18" name="icon-17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562856"/>
            <a:ext cx="274320" cy="274320"/>
          </a:xfrm>
          <a:prstGeom prst="rect">
            <a:avLst/>
          </a:prstGeom>
        </p:spPr>
      </p:pic>
      <p:sp>
        <p:nvSpPr>
          <p:cNvPr id="19" name="text-176"/>
          <p:cNvSpPr txBox="1"/>
          <p:nvPr/>
        </p:nvSpPr>
        <p:spPr>
          <a:xfrm>
            <a:off x="8275320" y="44256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捨棄</a:t>
            </a:r>
            <a:endParaRPr lang="en-US" sz="1600" dirty="0"/>
          </a:p>
        </p:txBody>
      </p:sp>
      <p:sp>
        <p:nvSpPr>
          <p:cNvPr id="20" name="text-177"/>
          <p:cNvSpPr txBox="1"/>
          <p:nvPr/>
        </p:nvSpPr>
        <p:spPr>
          <a:xfrm>
            <a:off x="8275320" y="479145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移到備份，不會真的刪掉</a:t>
            </a:r>
            <a:endParaRPr lang="en-US" sz="1300" dirty="0"/>
          </a:p>
        </p:txBody>
      </p:sp>
      <p:sp>
        <p:nvSpPr>
          <p:cNvPr id="21" name="card-178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3E6DF"/>
          </a:solidFill>
          <a:ln/>
        </p:spPr>
      </p:sp>
      <p:sp>
        <p:nvSpPr>
          <p:cNvPr id="22" name="text-179"/>
          <p:cNvSpPr txBox="1"/>
          <p:nvPr/>
        </p:nvSpPr>
        <p:spPr>
          <a:xfrm>
            <a:off x="777240" y="56692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按「寫章節（候選稿）」→ 審閱候選稿 → 滿意就採用。採用之前，正文和追蹤資料都不會被動到。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審查與逐段修訂</a:t>
            </a:r>
            <a:endParaRPr lang="en-US" sz="3000" dirty="0"/>
          </a:p>
        </p:txBody>
      </p:sp>
      <p:sp>
        <p:nvSpPr>
          <p:cNvPr id="3" name="card-180"/>
          <p:cNvSpPr/>
          <p:nvPr/>
        </p:nvSpPr>
        <p:spPr>
          <a:xfrm>
            <a:off x="548640" y="1325880"/>
            <a:ext cx="347472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icon-bg-181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714500"/>
            <a:ext cx="320040" cy="320040"/>
          </a:xfrm>
          <a:prstGeom prst="rect">
            <a:avLst/>
          </a:prstGeom>
        </p:spPr>
      </p:pic>
      <p:sp>
        <p:nvSpPr>
          <p:cNvPr id="6" name="text-183"/>
          <p:cNvSpPr txBox="1"/>
          <p:nvPr/>
        </p:nvSpPr>
        <p:spPr>
          <a:xfrm>
            <a:off x="329184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C2B6"/>
                </a:solidFill>
              </a:rPr>
              <a:t>1</a:t>
            </a:r>
            <a:endParaRPr lang="en-US" sz="3000" dirty="0"/>
          </a:p>
        </p:txBody>
      </p:sp>
      <p:sp>
        <p:nvSpPr>
          <p:cNvPr id="7" name="text-184"/>
          <p:cNvSpPr txBox="1"/>
          <p:nvPr/>
        </p:nvSpPr>
        <p:spPr>
          <a:xfrm>
            <a:off x="8229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審查</a:t>
            </a:r>
            <a:endParaRPr lang="en-US" sz="1900" dirty="0"/>
          </a:p>
        </p:txBody>
      </p:sp>
      <p:sp>
        <p:nvSpPr>
          <p:cNvPr id="8" name="text-185"/>
          <p:cNvSpPr txBox="1"/>
          <p:nvPr/>
        </p:nvSpPr>
        <p:spPr>
          <a:xfrm>
            <a:off x="822960" y="28346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AI 列出意見：必須修、建議修、提醒；每條附正文原句。引文對不上的會打 ✕。</a:t>
            </a:r>
            <a:endParaRPr lang="en-US" sz="1400" dirty="0"/>
          </a:p>
        </p:txBody>
      </p:sp>
      <p:sp>
        <p:nvSpPr>
          <p:cNvPr id="9" name="card-186"/>
          <p:cNvSpPr/>
          <p:nvPr/>
        </p:nvSpPr>
        <p:spPr>
          <a:xfrm>
            <a:off x="4297680" y="1325880"/>
            <a:ext cx="347472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icon-bg-187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18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714500"/>
            <a:ext cx="320040" cy="320040"/>
          </a:xfrm>
          <a:prstGeom prst="rect">
            <a:avLst/>
          </a:prstGeom>
        </p:spPr>
      </p:pic>
      <p:sp>
        <p:nvSpPr>
          <p:cNvPr id="12" name="text-189"/>
          <p:cNvSpPr txBox="1"/>
          <p:nvPr/>
        </p:nvSpPr>
        <p:spPr>
          <a:xfrm>
            <a:off x="704088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C2B6"/>
                </a:solidFill>
              </a:rPr>
              <a:t>2</a:t>
            </a:r>
            <a:endParaRPr lang="en-US" sz="3000" dirty="0"/>
          </a:p>
        </p:txBody>
      </p:sp>
      <p:sp>
        <p:nvSpPr>
          <p:cNvPr id="13" name="text-190"/>
          <p:cNvSpPr txBox="1"/>
          <p:nvPr/>
        </p:nvSpPr>
        <p:spPr>
          <a:xfrm>
            <a:off x="457200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勾選要改的</a:t>
            </a:r>
            <a:endParaRPr lang="en-US" sz="1900" dirty="0"/>
          </a:p>
        </p:txBody>
      </p:sp>
      <p:sp>
        <p:nvSpPr>
          <p:cNvPr id="14" name="text-191"/>
          <p:cNvSpPr txBox="1"/>
          <p:nvPr/>
        </p:nvSpPr>
        <p:spPr>
          <a:xfrm>
            <a:off x="4572000" y="28346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只勾你同意的意見，也可以自己補一段要求。AI 只改這些地方。</a:t>
            </a:r>
            <a:endParaRPr lang="en-US" sz="1400" dirty="0"/>
          </a:p>
        </p:txBody>
      </p:sp>
      <p:sp>
        <p:nvSpPr>
          <p:cNvPr id="15" name="card-192"/>
          <p:cNvSpPr/>
          <p:nvPr/>
        </p:nvSpPr>
        <p:spPr>
          <a:xfrm>
            <a:off x="8046720" y="1325880"/>
            <a:ext cx="347472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icon-bg-193"/>
          <p:cNvSpPr/>
          <p:nvPr/>
        </p:nvSpPr>
        <p:spPr>
          <a:xfrm>
            <a:off x="832104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19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714500"/>
            <a:ext cx="320040" cy="320040"/>
          </a:xfrm>
          <a:prstGeom prst="rect">
            <a:avLst/>
          </a:prstGeom>
        </p:spPr>
      </p:pic>
      <p:sp>
        <p:nvSpPr>
          <p:cNvPr id="18" name="text-195"/>
          <p:cNvSpPr txBox="1"/>
          <p:nvPr/>
        </p:nvSpPr>
        <p:spPr>
          <a:xfrm>
            <a:off x="1078992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C2B6"/>
                </a:solidFill>
              </a:rPr>
              <a:t>3</a:t>
            </a:r>
            <a:endParaRPr lang="en-US" sz="3000" dirty="0"/>
          </a:p>
        </p:txBody>
      </p:sp>
      <p:sp>
        <p:nvSpPr>
          <p:cNvPr id="19" name="text-196"/>
          <p:cNvSpPr txBox="1"/>
          <p:nvPr/>
        </p:nvSpPr>
        <p:spPr>
          <a:xfrm>
            <a:off x="832104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逐段對照</a:t>
            </a:r>
            <a:endParaRPr lang="en-US" sz="1900" dirty="0"/>
          </a:p>
        </p:txBody>
      </p:sp>
      <p:sp>
        <p:nvSpPr>
          <p:cNvPr id="20" name="text-197"/>
          <p:cNvSpPr txBox="1"/>
          <p:nvPr/>
        </p:nvSpPr>
        <p:spPr>
          <a:xfrm>
            <a:off x="8321040" y="28346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左右並排原文與修訂，點哪邊用哪版，按「套用」才寫進稿子。</a:t>
            </a:r>
            <a:endParaRPr lang="en-US" sz="1400" dirty="0"/>
          </a:p>
        </p:txBody>
      </p:sp>
      <p:sp>
        <p:nvSpPr>
          <p:cNvPr id="21" name="card-198"/>
          <p:cNvSpPr/>
          <p:nvPr/>
        </p:nvSpPr>
        <p:spPr>
          <a:xfrm>
            <a:off x="548640" y="425196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F3E6DF"/>
          </a:solidFill>
          <a:ln/>
        </p:spPr>
      </p:sp>
      <p:sp>
        <p:nvSpPr>
          <p:cNvPr id="22" name="icon-bg-199"/>
          <p:cNvSpPr/>
          <p:nvPr/>
        </p:nvSpPr>
        <p:spPr>
          <a:xfrm>
            <a:off x="822960" y="45262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con-20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686300"/>
            <a:ext cx="320040" cy="320040"/>
          </a:xfrm>
          <a:prstGeom prst="rect">
            <a:avLst/>
          </a:prstGeom>
        </p:spPr>
      </p:pic>
      <p:sp>
        <p:nvSpPr>
          <p:cNvPr id="24" name="text-201"/>
          <p:cNvSpPr txBox="1"/>
          <p:nvPr/>
        </p:nvSpPr>
        <p:spPr>
          <a:xfrm>
            <a:off x="1691640" y="4572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不花 token 的本機檢查</a:t>
            </a:r>
            <a:endParaRPr lang="en-US" sz="1800" dirty="0"/>
          </a:p>
        </p:txBody>
      </p:sp>
      <p:sp>
        <p:nvSpPr>
          <p:cNvPr id="25" name="text-202"/>
          <p:cNvSpPr txBox="1"/>
          <p:nvPr/>
        </p:nvSpPr>
        <p:spPr>
          <a:xfrm>
            <a:off x="1691640" y="5074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「檢查用語與 AI 味」：簡體字、大陸用語、禁用詞、罐頭反應、短句轟炸等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F3833"/>
                </a:solidFill>
              </a:rPr>
              <a:t>去 AI 味的保真檢查：名字、數字、對白有沒有被改掉，字數變化大不大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熟了以後：整章自動流程</a:t>
            </a:r>
            <a:endParaRPr lang="en-US" sz="3000" dirty="0"/>
          </a:p>
        </p:txBody>
      </p:sp>
      <p:sp>
        <p:nvSpPr>
          <p:cNvPr id="3" name="step-203"/>
          <p:cNvSpPr/>
          <p:nvPr/>
        </p:nvSpPr>
        <p:spPr>
          <a:xfrm>
            <a:off x="548640" y="13258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4" name="text-204"/>
          <p:cNvSpPr txBox="1"/>
          <p:nvPr/>
        </p:nvSpPr>
        <p:spPr>
          <a:xfrm>
            <a:off x="54864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1. 章綱</a:t>
            </a:r>
            <a:endParaRPr lang="en-US" sz="1300" dirty="0"/>
          </a:p>
        </p:txBody>
      </p:sp>
      <p:sp>
        <p:nvSpPr>
          <p:cNvPr id="5" name="step-205"/>
          <p:cNvSpPr/>
          <p:nvPr/>
        </p:nvSpPr>
        <p:spPr>
          <a:xfrm>
            <a:off x="2423160" y="13258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6" name="text-206"/>
          <p:cNvSpPr txBox="1"/>
          <p:nvPr/>
        </p:nvSpPr>
        <p:spPr>
          <a:xfrm>
            <a:off x="24231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2. 寫章節</a:t>
            </a:r>
            <a:endParaRPr lang="en-US" sz="1300" dirty="0"/>
          </a:p>
        </p:txBody>
      </p:sp>
      <p:sp>
        <p:nvSpPr>
          <p:cNvPr id="7" name="step-207"/>
          <p:cNvSpPr/>
          <p:nvPr/>
        </p:nvSpPr>
        <p:spPr>
          <a:xfrm>
            <a:off x="4297680" y="13258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8" name="text-208"/>
          <p:cNvSpPr txBox="1"/>
          <p:nvPr/>
        </p:nvSpPr>
        <p:spPr>
          <a:xfrm>
            <a:off x="42976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3. 章綱核對</a:t>
            </a:r>
            <a:endParaRPr lang="en-US" sz="1300" dirty="0"/>
          </a:p>
        </p:txBody>
      </p:sp>
      <p:sp>
        <p:nvSpPr>
          <p:cNvPr id="9" name="step-209"/>
          <p:cNvSpPr/>
          <p:nvPr/>
        </p:nvSpPr>
        <p:spPr>
          <a:xfrm>
            <a:off x="548640" y="20116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10" name="text-210"/>
          <p:cNvSpPr txBox="1"/>
          <p:nvPr/>
        </p:nvSpPr>
        <p:spPr>
          <a:xfrm>
            <a:off x="54864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4. 去 AI 味</a:t>
            </a:r>
            <a:endParaRPr lang="en-US" sz="1300" dirty="0"/>
          </a:p>
        </p:txBody>
      </p:sp>
      <p:sp>
        <p:nvSpPr>
          <p:cNvPr id="11" name="step-211"/>
          <p:cNvSpPr/>
          <p:nvPr/>
        </p:nvSpPr>
        <p:spPr>
          <a:xfrm>
            <a:off x="2423160" y="20116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12" name="text-212"/>
          <p:cNvSpPr txBox="1"/>
          <p:nvPr/>
        </p:nvSpPr>
        <p:spPr>
          <a:xfrm>
            <a:off x="242316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5. 審查</a:t>
            </a:r>
            <a:endParaRPr lang="en-US" sz="1300" dirty="0"/>
          </a:p>
        </p:txBody>
      </p:sp>
      <p:sp>
        <p:nvSpPr>
          <p:cNvPr id="13" name="step-213"/>
          <p:cNvSpPr/>
          <p:nvPr/>
        </p:nvSpPr>
        <p:spPr>
          <a:xfrm>
            <a:off x="4297680" y="20116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14" name="text-214"/>
          <p:cNvSpPr txBox="1"/>
          <p:nvPr/>
        </p:nvSpPr>
        <p:spPr>
          <a:xfrm>
            <a:off x="429768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6. 自動勾選</a:t>
            </a:r>
            <a:endParaRPr lang="en-US" sz="1300" dirty="0"/>
          </a:p>
        </p:txBody>
      </p:sp>
      <p:sp>
        <p:nvSpPr>
          <p:cNvPr id="15" name="step-215"/>
          <p:cNvSpPr/>
          <p:nvPr/>
        </p:nvSpPr>
        <p:spPr>
          <a:xfrm>
            <a:off x="548640" y="26974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16" name="text-216"/>
          <p:cNvSpPr txBox="1"/>
          <p:nvPr/>
        </p:nvSpPr>
        <p:spPr>
          <a:xfrm>
            <a:off x="54864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7. 修訂</a:t>
            </a:r>
            <a:endParaRPr lang="en-US" sz="1300" dirty="0"/>
          </a:p>
        </p:txBody>
      </p:sp>
      <p:sp>
        <p:nvSpPr>
          <p:cNvPr id="17" name="step-217"/>
          <p:cNvSpPr/>
          <p:nvPr/>
        </p:nvSpPr>
        <p:spPr>
          <a:xfrm>
            <a:off x="2423160" y="26974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EADBD3"/>
          </a:solidFill>
          <a:ln/>
        </p:spPr>
      </p:sp>
      <p:sp>
        <p:nvSpPr>
          <p:cNvPr id="18" name="text-218"/>
          <p:cNvSpPr txBox="1"/>
          <p:nvPr/>
        </p:nvSpPr>
        <p:spPr>
          <a:xfrm>
            <a:off x="242316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8. 套用</a:t>
            </a:r>
            <a:endParaRPr lang="en-US" sz="1300" dirty="0"/>
          </a:p>
        </p:txBody>
      </p:sp>
      <p:sp>
        <p:nvSpPr>
          <p:cNvPr id="19" name="step-219"/>
          <p:cNvSpPr/>
          <p:nvPr/>
        </p:nvSpPr>
        <p:spPr>
          <a:xfrm>
            <a:off x="4297680" y="2697480"/>
            <a:ext cx="164592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0" name="text-220"/>
          <p:cNvSpPr txBox="1"/>
          <p:nvPr/>
        </p:nvSpPr>
        <p:spPr>
          <a:xfrm>
            <a:off x="429768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9. 定稿回寫</a:t>
            </a:r>
            <a:endParaRPr lang="en-US" sz="1300" dirty="0"/>
          </a:p>
        </p:txBody>
      </p:sp>
      <p:sp>
        <p:nvSpPr>
          <p:cNvPr id="21" name="text-221"/>
          <p:cNvSpPr txBox="1"/>
          <p:nvPr/>
        </p:nvSpPr>
        <p:spPr>
          <a:xfrm>
            <a:off x="548640" y="361188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總覽或章節頁按「⚡ 整章自動」，選章節範圍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預設「寫一章停一章」：每章定稿後停下來給你看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每一步各呼叫一次 AI；失敗就停在那一步，修好可以從那一步繼續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設定裡可以替每一步指定不同的執行者或模型</a:t>
            </a:r>
            <a:endParaRPr lang="en-US" sz="1500" dirty="0"/>
          </a:p>
        </p:txBody>
      </p:sp>
      <p:sp>
        <p:nvSpPr>
          <p:cNvPr id="22" name="shot-frame-222"/>
          <p:cNvSpPr/>
          <p:nvPr/>
        </p:nvSpPr>
        <p:spPr>
          <a:xfrm>
            <a:off x="6766560" y="1234440"/>
            <a:ext cx="4767492" cy="5120640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3" name="shot-223" descr="整章自動流程設定視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34440"/>
            <a:ext cx="4767492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9C9A0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管好長篇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2E3D3"/>
                </a:solidFill>
              </a:rPr>
              <a:t>伏筆、時間線、搜尋、舊稿與匯出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伏筆與時間線：自動幫你記帳</a:t>
            </a:r>
            <a:endParaRPr lang="en-US" sz="3000" dirty="0"/>
          </a:p>
        </p:txBody>
      </p:sp>
      <p:sp>
        <p:nvSpPr>
          <p:cNvPr id="3" name="shot-frame-224"/>
          <p:cNvSpPr/>
          <p:nvPr/>
        </p:nvSpPr>
        <p:spPr>
          <a:xfrm>
            <a:off x="548640" y="1188720"/>
            <a:ext cx="11064240" cy="3733057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hot-225" descr="伏筆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3733057"/>
          </a:xfrm>
          <a:prstGeom prst="rect">
            <a:avLst/>
          </a:prstGeom>
        </p:spPr>
      </p:pic>
      <p:sp>
        <p:nvSpPr>
          <p:cNvPr id="5" name="card-226"/>
          <p:cNvSpPr/>
          <p:nvPr/>
        </p:nvSpPr>
        <p:spPr>
          <a:xfrm>
            <a:off x="548640" y="507492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6" name="text-227"/>
          <p:cNvSpPr txBox="1"/>
          <p:nvPr/>
        </p:nvSpPr>
        <p:spPr>
          <a:xfrm>
            <a:off x="731520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伏筆</a:t>
            </a:r>
            <a:endParaRPr lang="en-US" sz="1600" dirty="0"/>
          </a:p>
        </p:txBody>
      </p:sp>
      <p:sp>
        <p:nvSpPr>
          <p:cNvPr id="7" name="text-228"/>
          <p:cNvSpPr txBox="1"/>
          <p:nvPr/>
        </p:nvSpPr>
        <p:spPr>
          <a:xfrm>
            <a:off x="731520" y="555955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14A"/>
                </a:solidFill>
              </a:rPr>
              <a:t>埋設章、預計回收、最後出現；太久沒出現或逾期會標黃</a:t>
            </a:r>
            <a:endParaRPr lang="en-US" sz="1250" dirty="0"/>
          </a:p>
        </p:txBody>
      </p:sp>
      <p:sp>
        <p:nvSpPr>
          <p:cNvPr id="8" name="card-229"/>
          <p:cNvSpPr/>
          <p:nvPr/>
        </p:nvSpPr>
        <p:spPr>
          <a:xfrm>
            <a:off x="3346704" y="507492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text-230"/>
          <p:cNvSpPr txBox="1"/>
          <p:nvPr/>
        </p:nvSpPr>
        <p:spPr>
          <a:xfrm>
            <a:off x="3529584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時間線</a:t>
            </a:r>
            <a:endParaRPr lang="en-US" sz="1600" dirty="0"/>
          </a:p>
        </p:txBody>
      </p:sp>
      <p:sp>
        <p:nvSpPr>
          <p:cNvPr id="10" name="text-231"/>
          <p:cNvSpPr txBox="1"/>
          <p:nvPr/>
        </p:nvSpPr>
        <p:spPr>
          <a:xfrm>
            <a:off x="3529584" y="555955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14A"/>
                </a:solidFill>
              </a:rPr>
              <a:t>已經發生的事件，以及讀者什麼時候知道</a:t>
            </a:r>
            <a:endParaRPr lang="en-US" sz="1250" dirty="0"/>
          </a:p>
        </p:txBody>
      </p:sp>
      <p:sp>
        <p:nvSpPr>
          <p:cNvPr id="11" name="card-232"/>
          <p:cNvSpPr/>
          <p:nvPr/>
        </p:nvSpPr>
        <p:spPr>
          <a:xfrm>
            <a:off x="6144768" y="507492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text-233"/>
          <p:cNvSpPr txBox="1"/>
          <p:nvPr/>
        </p:nvSpPr>
        <p:spPr>
          <a:xfrm>
            <a:off x="6327648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讀者認知</a:t>
            </a:r>
            <a:endParaRPr lang="en-US" sz="1600" dirty="0"/>
          </a:p>
        </p:txBody>
      </p:sp>
      <p:sp>
        <p:nvSpPr>
          <p:cNvPr id="13" name="text-234"/>
          <p:cNvSpPr txBox="1"/>
          <p:nvPr/>
        </p:nvSpPr>
        <p:spPr>
          <a:xfrm>
            <a:off x="6327648" y="555955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14A"/>
                </a:solidFill>
              </a:rPr>
              <a:t>讀者在等的懸念、誤以為的事，避免太早說破</a:t>
            </a:r>
            <a:endParaRPr lang="en-US" sz="1250" dirty="0"/>
          </a:p>
        </p:txBody>
      </p:sp>
      <p:sp>
        <p:nvSpPr>
          <p:cNvPr id="14" name="card-235"/>
          <p:cNvSpPr/>
          <p:nvPr/>
        </p:nvSpPr>
        <p:spPr>
          <a:xfrm>
            <a:off x="8942832" y="507492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5" name="text-236"/>
          <p:cNvSpPr txBox="1"/>
          <p:nvPr/>
        </p:nvSpPr>
        <p:spPr>
          <a:xfrm>
            <a:off x="9125712" y="5193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需要注意</a:t>
            </a:r>
            <a:endParaRPr lang="en-US" sz="1600" dirty="0"/>
          </a:p>
        </p:txBody>
      </p:sp>
      <p:sp>
        <p:nvSpPr>
          <p:cNvPr id="16" name="text-237"/>
          <p:cNvSpPr txBox="1"/>
          <p:nvPr/>
        </p:nvSpPr>
        <p:spPr>
          <a:xfrm>
            <a:off x="9125712" y="555955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14A"/>
                </a:solidFill>
              </a:rPr>
              <a:t>總覽會提醒：伏筆逾期、角色久未登場、回寫漏了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前文搜尋：忘了寫過什麼就搜</a:t>
            </a:r>
            <a:endParaRPr lang="en-US" sz="3000" dirty="0"/>
          </a:p>
        </p:txBody>
      </p:sp>
      <p:sp>
        <p:nvSpPr>
          <p:cNvPr id="3" name="shot-frame-238"/>
          <p:cNvSpPr/>
          <p:nvPr/>
        </p:nvSpPr>
        <p:spPr>
          <a:xfrm>
            <a:off x="548640" y="1188720"/>
            <a:ext cx="6949440" cy="3672468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hot-239" descr="搜尋結果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3672468"/>
          </a:xfrm>
          <a:prstGeom prst="rect">
            <a:avLst/>
          </a:prstGeom>
        </p:spPr>
      </p:pic>
      <p:sp>
        <p:nvSpPr>
          <p:cNvPr id="5" name="icon-bg-240"/>
          <p:cNvSpPr/>
          <p:nvPr/>
        </p:nvSpPr>
        <p:spPr>
          <a:xfrm>
            <a:off x="786384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2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74320" cy="274320"/>
          </a:xfrm>
          <a:prstGeom prst="rect">
            <a:avLst/>
          </a:prstGeom>
        </p:spPr>
      </p:pic>
      <p:sp>
        <p:nvSpPr>
          <p:cNvPr id="7" name="text-242"/>
          <p:cNvSpPr txBox="1"/>
          <p:nvPr/>
        </p:nvSpPr>
        <p:spPr>
          <a:xfrm>
            <a:off x="859536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Ctrl+K</a:t>
            </a:r>
            <a:endParaRPr lang="en-US" sz="1600" dirty="0"/>
          </a:p>
        </p:txBody>
      </p:sp>
      <p:sp>
        <p:nvSpPr>
          <p:cNvPr id="8" name="text-243"/>
          <p:cNvSpPr txBox="1"/>
          <p:nvPr/>
        </p:nvSpPr>
        <p:spPr>
          <a:xfrm>
            <a:off x="8595360" y="16184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左側選單上方的搜尋框</a:t>
            </a:r>
            <a:endParaRPr lang="en-US" sz="1300" dirty="0"/>
          </a:p>
        </p:txBody>
      </p:sp>
      <p:sp>
        <p:nvSpPr>
          <p:cNvPr id="9" name="icon-bg-244"/>
          <p:cNvSpPr/>
          <p:nvPr/>
        </p:nvSpPr>
        <p:spPr>
          <a:xfrm>
            <a:off x="7863840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2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560320"/>
            <a:ext cx="274320" cy="274320"/>
          </a:xfrm>
          <a:prstGeom prst="rect">
            <a:avLst/>
          </a:prstGeom>
        </p:spPr>
      </p:pic>
      <p:sp>
        <p:nvSpPr>
          <p:cNvPr id="11" name="text-246"/>
          <p:cNvSpPr txBox="1"/>
          <p:nvPr/>
        </p:nvSpPr>
        <p:spPr>
          <a:xfrm>
            <a:off x="8595360" y="2423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多個詞</a:t>
            </a:r>
            <a:endParaRPr lang="en-US" sz="1600" dirty="0"/>
          </a:p>
        </p:txBody>
      </p:sp>
      <p:sp>
        <p:nvSpPr>
          <p:cNvPr id="12" name="text-247"/>
          <p:cNvSpPr txBox="1"/>
          <p:nvPr/>
        </p:nvSpPr>
        <p:spPr>
          <a:xfrm>
            <a:off x="8595360" y="2807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用空白分開＝要出現在同一章</a:t>
            </a:r>
            <a:endParaRPr lang="en-US" sz="1300" dirty="0"/>
          </a:p>
        </p:txBody>
      </p:sp>
      <p:sp>
        <p:nvSpPr>
          <p:cNvPr id="13" name="icon-bg-248"/>
          <p:cNvSpPr/>
          <p:nvPr/>
        </p:nvSpPr>
        <p:spPr>
          <a:xfrm>
            <a:off x="7863840" y="3611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24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749040"/>
            <a:ext cx="274320" cy="274320"/>
          </a:xfrm>
          <a:prstGeom prst="rect">
            <a:avLst/>
          </a:prstGeom>
        </p:spPr>
      </p:pic>
      <p:sp>
        <p:nvSpPr>
          <p:cNvPr id="15" name="text-250"/>
          <p:cNvSpPr txBox="1"/>
          <p:nvPr/>
        </p:nvSpPr>
        <p:spPr>
          <a:xfrm>
            <a:off x="8595360" y="3611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完整片語</a:t>
            </a:r>
            <a:endParaRPr lang="en-US" sz="1600" dirty="0"/>
          </a:p>
        </p:txBody>
      </p:sp>
      <p:sp>
        <p:nvSpPr>
          <p:cNvPr id="16" name="text-251"/>
          <p:cNvSpPr txBox="1"/>
          <p:nvPr/>
        </p:nvSpPr>
        <p:spPr>
          <a:xfrm>
            <a:off x="8595360" y="39959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用「」或 "" 包起來</a:t>
            </a:r>
            <a:endParaRPr lang="en-US" sz="1300" dirty="0"/>
          </a:p>
        </p:txBody>
      </p:sp>
      <p:sp>
        <p:nvSpPr>
          <p:cNvPr id="17" name="icon-bg-252"/>
          <p:cNvSpPr/>
          <p:nvPr/>
        </p:nvSpPr>
        <p:spPr>
          <a:xfrm>
            <a:off x="7863840" y="4800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25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937760"/>
            <a:ext cx="274320" cy="274320"/>
          </a:xfrm>
          <a:prstGeom prst="rect">
            <a:avLst/>
          </a:prstGeom>
        </p:spPr>
      </p:pic>
      <p:sp>
        <p:nvSpPr>
          <p:cNvPr id="19" name="text-254"/>
          <p:cNvSpPr txBox="1"/>
          <p:nvPr/>
        </p:nvSpPr>
        <p:spPr>
          <a:xfrm>
            <a:off x="8595360" y="4800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不分繁簡</a:t>
            </a:r>
            <a:endParaRPr lang="en-US" sz="1600" dirty="0"/>
          </a:p>
        </p:txBody>
      </p:sp>
      <p:sp>
        <p:nvSpPr>
          <p:cNvPr id="20" name="text-255"/>
          <p:cNvSpPr txBox="1"/>
          <p:nvPr/>
        </p:nvSpPr>
        <p:spPr>
          <a:xfrm>
            <a:off x="8595360" y="51846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14A"/>
                </a:solidFill>
              </a:rPr>
              <a:t>匯入時漏轉的簡體字也找得到</a:t>
            </a:r>
            <a:endParaRPr lang="en-US" sz="1300" dirty="0"/>
          </a:p>
        </p:txBody>
      </p:sp>
      <p:sp>
        <p:nvSpPr>
          <p:cNvPr id="21" name="text-256"/>
          <p:cNvSpPr txBox="1"/>
          <p:nvPr/>
        </p:nvSpPr>
        <p:spPr>
          <a:xfrm>
            <a:off x="548640" y="5257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14A"/>
                </a:solidFill>
              </a:rPr>
              <a:t>在本機直接讀檔，不用 AI、不花 token。點結果會跳到那一章並標亮。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已經寫好一部分？匯入舊稿</a:t>
            </a:r>
            <a:endParaRPr lang="en-US" sz="3000" dirty="0"/>
          </a:p>
        </p:txBody>
      </p:sp>
      <p:sp>
        <p:nvSpPr>
          <p:cNvPr id="3" name="shot-frame-257"/>
          <p:cNvSpPr/>
          <p:nvPr/>
        </p:nvSpPr>
        <p:spPr>
          <a:xfrm>
            <a:off x="548640" y="1188720"/>
            <a:ext cx="5852160" cy="2735766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hot-258" descr="匯入舊稿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52160" cy="2735766"/>
          </a:xfrm>
          <a:prstGeom prst="rect">
            <a:avLst/>
          </a:prstGeom>
        </p:spPr>
      </p:pic>
      <p:sp>
        <p:nvSpPr>
          <p:cNvPr id="5" name="text-259"/>
          <p:cNvSpPr txBox="1"/>
          <p:nvPr/>
        </p:nvSpPr>
        <p:spPr>
          <a:xfrm>
            <a:off x="548640" y="420624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匯入舊稿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F3833"/>
                </a:solidFill>
              </a:rPr>
              <a:t>TXT、Markdown、Word 都可以，或直接貼上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F3833"/>
                </a:solidFill>
              </a:rPr>
              <a:t>自動拆章、判斷編碼，可以簡轉繁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F3833"/>
                </a:solidFill>
              </a:rPr>
              <a:t>預覽會標出空章、跳號、重複章號</a:t>
            </a:r>
            <a:endParaRPr lang="en-US" sz="1500" dirty="0"/>
          </a:p>
        </p:txBody>
      </p:sp>
      <p:sp>
        <p:nvSpPr>
          <p:cNvPr id="6" name="text-260"/>
          <p:cNvSpPr txBox="1"/>
          <p:nvPr/>
        </p:nvSpPr>
        <p:spPr>
          <a:xfrm>
            <a:off x="6766560" y="1188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接著：從正文建立設定</a:t>
            </a:r>
            <a:endParaRPr lang="en-US" sz="1800" dirty="0"/>
          </a:p>
        </p:txBody>
      </p:sp>
      <p:sp>
        <p:nvSpPr>
          <p:cNvPr id="7" name="num-261"/>
          <p:cNvSpPr txBox="1"/>
          <p:nvPr/>
        </p:nvSpPr>
        <p:spPr>
          <a:xfrm>
            <a:off x="6766560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-262"/>
          <p:cNvSpPr txBox="1"/>
          <p:nvPr/>
        </p:nvSpPr>
        <p:spPr>
          <a:xfrm>
            <a:off x="740664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估算</a:t>
            </a:r>
            <a:endParaRPr lang="en-US" sz="1600" dirty="0"/>
          </a:p>
        </p:txBody>
      </p:sp>
      <p:sp>
        <p:nvSpPr>
          <p:cNvPr id="9" name="text-263"/>
          <p:cNvSpPr txBox="1"/>
          <p:nvPr/>
        </p:nvSpPr>
        <p:spPr>
          <a:xfrm>
            <a:off x="7406640" y="22128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14A"/>
                </a:solidFill>
              </a:rPr>
              <a:t>要讀幾章、分幾批、大概多少錢</a:t>
            </a:r>
            <a:endParaRPr lang="en-US" sz="1350" dirty="0"/>
          </a:p>
        </p:txBody>
      </p:sp>
      <p:sp>
        <p:nvSpPr>
          <p:cNvPr id="10" name="num-264"/>
          <p:cNvSpPr txBox="1"/>
          <p:nvPr/>
        </p:nvSpPr>
        <p:spPr>
          <a:xfrm>
            <a:off x="676656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-265"/>
          <p:cNvSpPr txBox="1"/>
          <p:nvPr/>
        </p:nvSpPr>
        <p:spPr>
          <a:xfrm>
            <a:off x="740664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分批讀正文</a:t>
            </a:r>
            <a:endParaRPr lang="en-US" sz="1600" dirty="0"/>
          </a:p>
        </p:txBody>
      </p:sp>
      <p:sp>
        <p:nvSpPr>
          <p:cNvPr id="12" name="text-266"/>
          <p:cNvSpPr txBox="1"/>
          <p:nvPr/>
        </p:nvSpPr>
        <p:spPr>
          <a:xfrm>
            <a:off x="7406640" y="33101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14A"/>
                </a:solidFill>
              </a:rPr>
              <a:t>可以中途停，下次接著跑</a:t>
            </a:r>
            <a:endParaRPr lang="en-US" sz="1350" dirty="0"/>
          </a:p>
        </p:txBody>
      </p:sp>
      <p:sp>
        <p:nvSpPr>
          <p:cNvPr id="13" name="num-267"/>
          <p:cNvSpPr txBox="1"/>
          <p:nvPr/>
        </p:nvSpPr>
        <p:spPr>
          <a:xfrm>
            <a:off x="676656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-268"/>
          <p:cNvSpPr txBox="1"/>
          <p:nvPr/>
        </p:nvSpPr>
        <p:spPr>
          <a:xfrm>
            <a:off x="740664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整理</a:t>
            </a:r>
            <a:endParaRPr lang="en-US" sz="1600" dirty="0"/>
          </a:p>
        </p:txBody>
      </p:sp>
      <p:sp>
        <p:nvSpPr>
          <p:cNvPr id="15" name="text-269"/>
          <p:cNvSpPr txBox="1"/>
          <p:nvPr/>
        </p:nvSpPr>
        <p:spPr>
          <a:xfrm>
            <a:off x="7406640" y="44074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14A"/>
                </a:solidFill>
              </a:rPr>
              <a:t>寫出角色、勢力、世界觀、大綱</a:t>
            </a:r>
            <a:endParaRPr lang="en-US" sz="1350" dirty="0"/>
          </a:p>
        </p:txBody>
      </p:sp>
      <p:sp>
        <p:nvSpPr>
          <p:cNvPr id="16" name="num-270"/>
          <p:cNvSpPr txBox="1"/>
          <p:nvPr/>
        </p:nvSpPr>
        <p:spPr>
          <a:xfrm>
            <a:off x="6766560" y="5120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-271"/>
          <p:cNvSpPr txBox="1"/>
          <p:nvPr/>
        </p:nvSpPr>
        <p:spPr>
          <a:xfrm>
            <a:off x="740664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核對草稿</a:t>
            </a:r>
            <a:endParaRPr lang="en-US" sz="1600" dirty="0"/>
          </a:p>
        </p:txBody>
      </p:sp>
      <p:sp>
        <p:nvSpPr>
          <p:cNvPr id="18" name="text-272"/>
          <p:cNvSpPr txBox="1"/>
          <p:nvPr/>
        </p:nvSpPr>
        <p:spPr>
          <a:xfrm>
            <a:off x="7406640" y="5504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14A"/>
                </a:solidFill>
              </a:rPr>
              <a:t>分四組，看過再按「採用」</a:t>
            </a:r>
            <a:endParaRPr lang="en-US" sz="1350" dirty="0"/>
          </a:p>
        </p:txBody>
      </p:sp>
      <p:sp>
        <p:nvSpPr>
          <p:cNvPr id="19" name="text-273"/>
          <p:cNvSpPr txBox="1"/>
          <p:nvPr/>
        </p:nvSpPr>
        <p:spPr>
          <a:xfrm>
            <a:off x="6766560" y="6035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推不出來的會寫「待補」，不會亂編。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匯出成書，配上插圖</a:t>
            </a:r>
            <a:endParaRPr lang="en-US" sz="3000" dirty="0"/>
          </a:p>
        </p:txBody>
      </p:sp>
      <p:sp>
        <p:nvSpPr>
          <p:cNvPr id="3" name="shot-frame-274"/>
          <p:cNvSpPr/>
          <p:nvPr/>
        </p:nvSpPr>
        <p:spPr>
          <a:xfrm>
            <a:off x="548640" y="1188720"/>
            <a:ext cx="5852160" cy="3211551"/>
          </a:xfrm>
          <a:prstGeom prst="rect">
            <a:avLst/>
          </a:prstGeom>
          <a:solidFill>
            <a:schemeClr val="bg1"/>
          </a:solidFill>
          <a:ln w="9525">
            <a:solidFill>
              <a:srgbClr val="D9D1C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hot-275" descr="匯出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52160" cy="3211551"/>
          </a:xfrm>
          <a:prstGeom prst="rect">
            <a:avLst/>
          </a:prstGeom>
        </p:spPr>
      </p:pic>
      <p:sp>
        <p:nvSpPr>
          <p:cNvPr id="5" name="text-276"/>
          <p:cNvSpPr txBox="1"/>
          <p:nvPr/>
        </p:nvSpPr>
        <p:spPr>
          <a:xfrm>
            <a:off x="548640" y="45720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匯出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F3833"/>
                </a:solidFill>
              </a:rPr>
              <a:t>EPUB 電子書（可直排）或 TXT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F3833"/>
                </a:solidFill>
              </a:rPr>
              <a:t>選章節範圍、章名格式、段落格式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F3833"/>
                </a:solidFill>
              </a:rPr>
              <a:t>不連網、不呼叫 AI</a:t>
            </a:r>
            <a:endParaRPr lang="en-US" sz="1500" dirty="0"/>
          </a:p>
        </p:txBody>
      </p:sp>
      <p:sp>
        <p:nvSpPr>
          <p:cNvPr id="6" name="card-277"/>
          <p:cNvSpPr/>
          <p:nvPr/>
        </p:nvSpPr>
        <p:spPr>
          <a:xfrm>
            <a:off x="6766560" y="1188720"/>
            <a:ext cx="484632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7" name="icon-bg-278"/>
          <p:cNvSpPr/>
          <p:nvPr/>
        </p:nvSpPr>
        <p:spPr>
          <a:xfrm>
            <a:off x="7040880" y="14630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con-2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1623060"/>
            <a:ext cx="320040" cy="320040"/>
          </a:xfrm>
          <a:prstGeom prst="rect">
            <a:avLst/>
          </a:prstGeom>
        </p:spPr>
      </p:pic>
      <p:sp>
        <p:nvSpPr>
          <p:cNvPr id="9" name="text-280"/>
          <p:cNvSpPr txBox="1"/>
          <p:nvPr/>
        </p:nvSpPr>
        <p:spPr>
          <a:xfrm>
            <a:off x="786384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插圖（選用）</a:t>
            </a:r>
            <a:endParaRPr lang="en-US" sz="1800" dirty="0"/>
          </a:p>
        </p:txBody>
      </p:sp>
      <p:sp>
        <p:nvSpPr>
          <p:cNvPr id="10" name="text-281"/>
          <p:cNvSpPr txBox="1"/>
          <p:nvPr/>
        </p:nvSpPr>
        <p:spPr>
          <a:xfrm>
            <a:off x="7040880" y="2286000"/>
            <a:ext cx="4343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封面、每一章、每個角色或地點都可以有圖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可以接 Forge Neo 或 ComfyUI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程式挑精華段落、組提示詞；角色的「視覺卡」讓同一人每次長得一樣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MOSS-Image 可以在圖上放書名、招牌、對白氣泡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F3833"/>
                </a:solidFill>
              </a:rPr>
              <a:t>沒有出圖環境也能直接上傳圖片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新手常見問題</a:t>
            </a:r>
            <a:endParaRPr lang="en-US" sz="3000" dirty="0"/>
          </a:p>
        </p:txBody>
      </p:sp>
      <p:sp>
        <p:nvSpPr>
          <p:cNvPr id="3" name="card-282"/>
          <p:cNvSpPr/>
          <p:nvPr/>
        </p:nvSpPr>
        <p:spPr>
          <a:xfrm>
            <a:off x="548640" y="137160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4" name="icon-bg-283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8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771650"/>
            <a:ext cx="251460" cy="251460"/>
          </a:xfrm>
          <a:prstGeom prst="rect">
            <a:avLst/>
          </a:prstGeom>
        </p:spPr>
      </p:pic>
      <p:sp>
        <p:nvSpPr>
          <p:cNvPr id="6" name="text-285"/>
          <p:cNvSpPr txBox="1"/>
          <p:nvPr/>
        </p:nvSpPr>
        <p:spPr>
          <a:xfrm>
            <a:off x="150876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找不到 claude 指令</a:t>
            </a:r>
            <a:endParaRPr lang="en-US" sz="1600" dirty="0"/>
          </a:p>
        </p:txBody>
      </p:sp>
      <p:sp>
        <p:nvSpPr>
          <p:cNvPr id="7" name="text-286"/>
          <p:cNvSpPr txBox="1"/>
          <p:nvPr/>
        </p:nvSpPr>
        <p:spPr>
          <a:xfrm>
            <a:off x="822960" y="23317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14A"/>
                </a:solidFill>
              </a:rPr>
              <a:t>命令提示字元輸入 where claude，把路徑填到設定頁的「claude 執行檔路徑」。</a:t>
            </a:r>
            <a:endParaRPr lang="en-US" sz="1500" dirty="0"/>
          </a:p>
        </p:txBody>
      </p:sp>
      <p:sp>
        <p:nvSpPr>
          <p:cNvPr id="8" name="card-287"/>
          <p:cNvSpPr/>
          <p:nvPr/>
        </p:nvSpPr>
        <p:spPr>
          <a:xfrm>
            <a:off x="6172200" y="137160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icon-bg-288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28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771650"/>
            <a:ext cx="251460" cy="251460"/>
          </a:xfrm>
          <a:prstGeom prst="rect">
            <a:avLst/>
          </a:prstGeom>
        </p:spPr>
      </p:pic>
      <p:sp>
        <p:nvSpPr>
          <p:cNvPr id="11" name="text-290"/>
          <p:cNvSpPr txBox="1"/>
          <p:nvPr/>
        </p:nvSpPr>
        <p:spPr>
          <a:xfrm>
            <a:off x="713232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我直接改了檔案，工作台會知道嗎？</a:t>
            </a:r>
            <a:endParaRPr lang="en-US" sz="1600" dirty="0"/>
          </a:p>
        </p:txBody>
      </p:sp>
      <p:sp>
        <p:nvSpPr>
          <p:cNvPr id="12" name="text-291"/>
          <p:cNvSpPr txBox="1"/>
          <p:nvPr/>
        </p:nvSpPr>
        <p:spPr>
          <a:xfrm>
            <a:off x="6446520" y="23317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14A"/>
                </a:solidFill>
              </a:rPr>
              <a:t>會。工作台每次都直接讀檔，重新整理頁面就看得到。</a:t>
            </a:r>
            <a:endParaRPr lang="en-US" sz="1500" dirty="0"/>
          </a:p>
        </p:txBody>
      </p:sp>
      <p:sp>
        <p:nvSpPr>
          <p:cNvPr id="13" name="card-292"/>
          <p:cNvSpPr/>
          <p:nvPr/>
        </p:nvSpPr>
        <p:spPr>
          <a:xfrm>
            <a:off x="548640" y="3703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4" name="icon-bg-293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29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4103370"/>
            <a:ext cx="251460" cy="251460"/>
          </a:xfrm>
          <a:prstGeom prst="rect">
            <a:avLst/>
          </a:prstGeom>
        </p:spPr>
      </p:pic>
      <p:sp>
        <p:nvSpPr>
          <p:cNvPr id="16" name="text-295"/>
          <p:cNvSpPr txBox="1"/>
          <p:nvPr/>
        </p:nvSpPr>
        <p:spPr>
          <a:xfrm>
            <a:off x="150876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任務紀錄說「上下文超出長度，略過…」</a:t>
            </a:r>
            <a:endParaRPr lang="en-US" sz="1600" dirty="0"/>
          </a:p>
        </p:txBody>
      </p:sp>
      <p:sp>
        <p:nvSpPr>
          <p:cNvPr id="17" name="text-296"/>
          <p:cNvSpPr txBox="1"/>
          <p:nvPr/>
        </p:nvSpPr>
        <p:spPr>
          <a:xfrm>
            <a:off x="822960" y="46634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14A"/>
                </a:solidFill>
              </a:rPr>
              <a:t>不是錯誤，章節照常寫，只是少帶了最不重要的參考。可以調整上下文長度或最大輸出。</a:t>
            </a:r>
            <a:endParaRPr lang="en-US" sz="1500" dirty="0"/>
          </a:p>
        </p:txBody>
      </p:sp>
      <p:sp>
        <p:nvSpPr>
          <p:cNvPr id="18" name="card-297"/>
          <p:cNvSpPr/>
          <p:nvPr/>
        </p:nvSpPr>
        <p:spPr>
          <a:xfrm>
            <a:off x="6172200" y="3703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9" name="icon-bg-298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29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4103370"/>
            <a:ext cx="251460" cy="251460"/>
          </a:xfrm>
          <a:prstGeom prst="rect">
            <a:avLst/>
          </a:prstGeom>
        </p:spPr>
      </p:pic>
      <p:sp>
        <p:nvSpPr>
          <p:cNvPr id="21" name="text-300"/>
          <p:cNvSpPr txBox="1"/>
          <p:nvPr/>
        </p:nvSpPr>
        <p:spPr>
          <a:xfrm>
            <a:off x="713232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寫到一半斷掉了</a:t>
            </a:r>
            <a:endParaRPr lang="en-US" sz="1600" dirty="0"/>
          </a:p>
        </p:txBody>
      </p:sp>
      <p:sp>
        <p:nvSpPr>
          <p:cNvPr id="22" name="text-301"/>
          <p:cNvSpPr txBox="1"/>
          <p:nvPr/>
        </p:nvSpPr>
        <p:spPr>
          <a:xfrm>
            <a:off x="6446520" y="46634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14A"/>
                </a:solidFill>
              </a:rPr>
              <a:t>已寫出的部分會存成「恢復稿」，可以接著寫完或直接存成候選稿。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開始寫吧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8DCCB"/>
                </a:solidFill>
              </a:rPr>
              <a:t>記住三件事就夠了</a:t>
            </a:r>
            <a:endParaRPr lang="en-US" sz="2000" dirty="0"/>
          </a:p>
        </p:txBody>
      </p:sp>
      <p:sp>
        <p:nvSpPr>
          <p:cNvPr id="4" name="icon-bg-302"/>
          <p:cNvSpPr/>
          <p:nvPr/>
        </p:nvSpPr>
        <p:spPr>
          <a:xfrm>
            <a:off x="694944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3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1531620"/>
            <a:ext cx="320040" cy="320040"/>
          </a:xfrm>
          <a:prstGeom prst="rect">
            <a:avLst/>
          </a:prstGeom>
        </p:spPr>
      </p:pic>
      <p:sp>
        <p:nvSpPr>
          <p:cNvPr id="6" name="text-304"/>
          <p:cNvSpPr txBox="1"/>
          <p:nvPr/>
        </p:nvSpPr>
        <p:spPr>
          <a:xfrm>
            <a:off x="78181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 只提案</a:t>
            </a:r>
            <a:endParaRPr lang="en-US" sz="1800" dirty="0"/>
          </a:p>
        </p:txBody>
      </p:sp>
      <p:sp>
        <p:nvSpPr>
          <p:cNvPr id="7" name="text-305"/>
          <p:cNvSpPr txBox="1"/>
          <p:nvPr/>
        </p:nvSpPr>
        <p:spPr>
          <a:xfrm>
            <a:off x="781812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BAA"/>
                </a:solidFill>
              </a:rPr>
              <a:t>進正文的每一個字都由你決定</a:t>
            </a:r>
            <a:endParaRPr lang="en-US" sz="1400" dirty="0"/>
          </a:p>
        </p:txBody>
      </p:sp>
      <p:sp>
        <p:nvSpPr>
          <p:cNvPr id="8" name="icon-bg-306"/>
          <p:cNvSpPr/>
          <p:nvPr/>
        </p:nvSpPr>
        <p:spPr>
          <a:xfrm>
            <a:off x="6949440" y="2697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-3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2857500"/>
            <a:ext cx="320040" cy="320040"/>
          </a:xfrm>
          <a:prstGeom prst="rect">
            <a:avLst/>
          </a:prstGeom>
        </p:spPr>
      </p:pic>
      <p:sp>
        <p:nvSpPr>
          <p:cNvPr id="10" name="text-308"/>
          <p:cNvSpPr txBox="1"/>
          <p:nvPr/>
        </p:nvSpPr>
        <p:spPr>
          <a:xfrm>
            <a:off x="781812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資料是你的</a:t>
            </a:r>
            <a:endParaRPr lang="en-US" sz="1800" dirty="0"/>
          </a:p>
        </p:txBody>
      </p:sp>
      <p:sp>
        <p:nvSpPr>
          <p:cNvPr id="11" name="text-309"/>
          <p:cNvSpPr txBox="1"/>
          <p:nvPr/>
        </p:nvSpPr>
        <p:spPr>
          <a:xfrm>
            <a:off x="781812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BAA"/>
                </a:solidFill>
              </a:rPr>
              <a:t>一般的 Markdown 檔，放在你的書庫</a:t>
            </a:r>
            <a:endParaRPr lang="en-US" sz="1400" dirty="0"/>
          </a:p>
        </p:txBody>
      </p:sp>
      <p:sp>
        <p:nvSpPr>
          <p:cNvPr id="12" name="icon-bg-310"/>
          <p:cNvSpPr/>
          <p:nvPr/>
        </p:nvSpPr>
        <p:spPr>
          <a:xfrm>
            <a:off x="6949440" y="4023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3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4183380"/>
            <a:ext cx="320040" cy="320040"/>
          </a:xfrm>
          <a:prstGeom prst="rect">
            <a:avLst/>
          </a:prstGeom>
        </p:spPr>
      </p:pic>
      <p:sp>
        <p:nvSpPr>
          <p:cNvPr id="14" name="text-312"/>
          <p:cNvSpPr txBox="1"/>
          <p:nvPr/>
        </p:nvSpPr>
        <p:spPr>
          <a:xfrm>
            <a:off x="781812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先看「需要注意」</a:t>
            </a:r>
            <a:endParaRPr lang="en-US" sz="1800" dirty="0"/>
          </a:p>
        </p:txBody>
      </p:sp>
      <p:sp>
        <p:nvSpPr>
          <p:cNvPr id="15" name="text-313"/>
          <p:cNvSpPr txBox="1"/>
          <p:nvPr/>
        </p:nvSpPr>
        <p:spPr>
          <a:xfrm>
            <a:off x="7818120" y="4434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BBAA"/>
                </a:solidFill>
              </a:rPr>
              <a:t>總覽會告訴你下一步做什麼</a:t>
            </a:r>
            <a:endParaRPr lang="en-US" sz="1400" dirty="0"/>
          </a:p>
        </p:txBody>
      </p:sp>
      <p:sp>
        <p:nvSpPr>
          <p:cNvPr id="16" name="icon-bg-314"/>
          <p:cNvSpPr/>
          <p:nvPr/>
        </p:nvSpPr>
        <p:spPr>
          <a:xfrm>
            <a:off x="731520" y="5623560"/>
            <a:ext cx="457200" cy="457200"/>
          </a:xfrm>
          <a:prstGeom prst="ellipse">
            <a:avLst/>
          </a:prstGeom>
          <a:solidFill>
            <a:srgbClr val="4A403A"/>
          </a:solidFill>
          <a:ln/>
        </p:spPr>
      </p:sp>
      <p:pic>
        <p:nvPicPr>
          <p:cNvPr id="17" name="icon-3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5737860"/>
            <a:ext cx="228600" cy="228600"/>
          </a:xfrm>
          <a:prstGeom prst="rect">
            <a:avLst/>
          </a:prstGeom>
        </p:spPr>
      </p:pic>
      <p:sp>
        <p:nvSpPr>
          <p:cNvPr id="18" name="text-316"/>
          <p:cNvSpPr txBox="1"/>
          <p:nvPr/>
        </p:nvSpPr>
        <p:spPr>
          <a:xfrm>
            <a:off x="1325880" y="5623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BAA"/>
                </a:solidFill>
              </a:rPr>
              <a:t>GitHub：yamasoo/novel-studio　・　有問題按左側欄最底下的「回報問題」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vel Studio">
  <a:themeElements>
    <a:clrScheme name="Novel Studio">
      <a:dk1>
        <a:srgbClr val="2B2420"/>
      </a:dk1>
      <a:lt1>
        <a:srgbClr val="FFFFFF"/>
      </a:lt1>
      <a:dk2>
        <a:srgbClr val="8A3B2E"/>
      </a:dk2>
      <a:lt2>
        <a:srgbClr val="F4EFE8"/>
      </a:lt2>
      <a:accent1>
        <a:srgbClr val="8A3B2E"/>
      </a:accent1>
      <a:accent2>
        <a:srgbClr val="C9A36B"/>
      </a:accent2>
      <a:accent3>
        <a:srgbClr val="3E6B5A"/>
      </a:accent3>
      <a:accent4>
        <a:srgbClr val="3D5A80"/>
      </a:accent4>
      <a:accent5>
        <a:srgbClr val="B86B4B"/>
      </a:accent5>
      <a:accent6>
        <a:srgbClr val="6B6258"/>
      </a:accent6>
      <a:hlink>
        <a:srgbClr val="8A3B2E"/>
      </a:hlink>
      <a:folHlink>
        <a:srgbClr val="6B6258"/>
      </a:folHlink>
    </a:clrScheme>
    <a:fontScheme name="Novel Studio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小說工作台 新手教學</dc:title>
  <dc:subject>PptxGenJS Presentation</dc:subject>
  <dc:creator>Novel Studio</dc:creator>
  <cp:lastModifiedBy>Novel Studio</cp:lastModifiedBy>
  <cp:revision>1</cp:revision>
  <dcterms:created xsi:type="dcterms:W3CDTF">2026-10-27T07:12:24Z</dcterms:created>
  <dcterms:modified xsi:type="dcterms:W3CDTF">2026-10-27T07:12:24Z</dcterms:modified>
</cp:coreProperties>
</file>